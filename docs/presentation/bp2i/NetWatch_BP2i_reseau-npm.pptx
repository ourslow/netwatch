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Bonjour. Je vais vous présenter NetWatch : une sonde d'observabilité réseau open-source que nous avons développée et éprouvée chez Axians. Le fil rouge : ce qu'elle voit, comment elle le calcule, ce qu'elle ne fait pas, et ce qu'on vous propose de tester. Démo live à la fin sur une sonde qui tourne.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constat qu'on retrouve sur la plupart des grands SI : le NPM commercial couvre le cœur, très bien, et autour il reste des périmètres qu'on n'instrumente pas parce que le coût d'une sonde ne se justifie pas. DORA et NIS2 rendent ce trou visible dans l'audit. La question n'est pas de remplacer ce qui marche, c'est de couvrir le reste avec le même vocabulaire.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une phrase : un port SPAN, une VM, une commande. Trois moteurs d'analyse, la collecte de flux, du SNMP, des sondes actives, et un portail qui parle le même vocabulaire que vos outils actuels. Zéro licence, zéro donnée sortante — même l'IA d'aide à l'analyse tourne en local.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positionnement, pour qu'il n'y ait pas d'ambiguïté : votre cœur reste sur le NPM commercial. NetWatch va sur les périmètres périphériques, et sert de labo. L'intérêt pour une équipe réseau : les mêmes indicateurs partout, donc le même raisonnement de triage quel que soit le site.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L'architecture, de gauche à droite. Les entrées : un port SPAN pour les moteurs d'analyse et la capture, les flux depuis vos équipements, le SNMP, et des sondes actives. Trois moteurs sur le même trafic. Deux bases : Elasticsearch pour tout ce qui est événement, Prometheus pour les séries temporelles. Et une restitution unique. Les chiffres d'empreinte sont mesurés, pas estimés.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page que vous utiliserez le plus. Top talkers, ART par service avec les percentiles, santé TCP avec les retransmissions et le zero-window, la classification applicative. Ce sont les mêmes indicateurs que sur vos outils — on verra sur la slide suivante comment ils sont calculés.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C'est la slide pour une équipe technique : chaque indicateur, sa source, sa formule, et sa limite. L'ART vient des timestamps requête/réponse de Zeek, le RTT du handshake, le zero-window du champ history de conn.log — la donnée existe nativement, on l'expose. Tout est dans le code, sous licence AGPL : vous pouvez vérifier chaque formule.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Un point que les équipes réseau apprécient : le couplage passif/actif dans la même vue. Le passif dit comment se comporte le trafic réel ; l'actif dit si le service répond. Les cibles Blackbox sont un fichier YAML rechargé à chaud — pas de redémarrage.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pivot IP : une adresse nue ne dit rien ; avec NetBox elle devient srv-erp-01, Datacenter Lyon, VLAN serveurs, production. Et les hostgroups — le découpage réseau que vous connaissez chez NetScout — viennent directement des préfixes de l'inventaire, pas d'un tableur.</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Quand le tableau de bord ne suffit plus : Arkime pour le paquet, Kibana pour le log brut, ntopng pour la classification fine, et l'analyse de conversation TCP. Tout s'ouvre depuis le portail, au bon endroit, avec le bon filtre — et derrière un seul point d'entrée HTTPS avec une seule authentification.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bandeau de triage en haut de la home : une ligne pour dire si le réseau va bien, avec des chips cliquables vers la preuve. Pour une équipe réseau, l'intérêt du volet sécurité est surtout de ne pas chasser un problème de performance qui est en fait un incident. L'IA est une option — un modèle local, rien ne sort.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correspondance fonction par fonction. Ligne par ligne, vous avez d'un côté la brique NetWatch et sa méthode, de l'autre l'outil commercial équivalent. Deux lignes à retenir : le dictionnaire applicatif — SNI plus nDPI, pas de DPI propriétaire — et le coût.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 colonnes pour les questions qui arrivent toujours en second. Souveraineté : rien ne sort, y compris l'IA. Exploitation : ce qu'on a industrialisé ces dernières semaines — installation en une commande, HTTPS unique, sauvegarde, mise à jour, tests. Conformité : la sonde produit les preuves que DORA et NIS2 demandent ; le durcissement et la rétention se cadrent avec vous.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Je préfère lister les limites moi-même. Pas de support éditeur — c'est Axians qui le porte. Pas de multi-Tbps. Pas de DPI propriétaire. Le zero-window est compté, pas mesuré en durée. Aucune certification. Et c'est une v2.1 : validée en labo, le premier pilote client reste à faire — c'est l'objet de la proposition.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proposition : six semaines, un périmètre que vous ne couvrez pas, une VM, un port SPAN. On fixe les critères de succès avant d'installer. Le pilote se fait en édition Community, donc sans licence ; l'édition Pro, c'est le support et les fonctions avancées si vous décidez d'étendre.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démo suit huit questions qu'un exploitant pose vraiment, et pour chacune la page qui répond. Si un service ne répond pas pendant la démo, make health depuis un terminal et on continue sur la page suivante — tout est rejouable.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Merci. Je suis disponible pour une démonstration approfondie sur votre périmètre, et pour cadrer le pilote.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7C8AA3"/>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7C8AA3"/>
                </a:solidFill>
                <a:latin typeface="Calibri"/>
              </a:rPr>
              <a:t>1</a:t>
            </a:r>
          </a:p>
        </p:txBody>
      </p:sp>
      <p:sp>
        <p:nvSpPr>
          <p:cNvPr id="4" name="Rectangle 3"/>
          <p:cNvSpPr/>
          <p:nvPr/>
        </p:nvSpPr>
        <p:spPr>
          <a:xfrm>
            <a:off x="548640" y="1874519"/>
            <a:ext cx="146304" cy="1417320"/>
          </a:xfrm>
          <a:prstGeom prst="rect">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783080"/>
            <a:ext cx="10058400" cy="1005840"/>
          </a:xfrm>
          <a:prstGeom prst="rect">
            <a:avLst/>
          </a:prstGeom>
          <a:noFill/>
        </p:spPr>
        <p:txBody>
          <a:bodyPr wrap="square" lIns="45720" rIns="45720" tIns="27432" bIns="27432" anchor="t">
            <a:spAutoFit/>
          </a:bodyPr>
          <a:lstStyle/>
          <a:p>
            <a:pPr algn="l">
              <a:lnSpc>
                <a:spcPct val="110000"/>
              </a:lnSpc>
              <a:spcAft>
                <a:spcPts val="400"/>
              </a:spcAft>
            </a:pPr>
            <a:r>
              <a:rPr sz="5400" b="1" i="0">
                <a:solidFill>
                  <a:srgbClr val="FFFFFF"/>
                </a:solidFill>
                <a:latin typeface="Calibri"/>
              </a:rPr>
              <a:t>NetWatch</a:t>
            </a:r>
          </a:p>
        </p:txBody>
      </p:sp>
      <p:sp>
        <p:nvSpPr>
          <p:cNvPr id="6" name="TextBox 5"/>
          <p:cNvSpPr txBox="1"/>
          <p:nvPr/>
        </p:nvSpPr>
        <p:spPr>
          <a:xfrm>
            <a:off x="868680" y="2697480"/>
            <a:ext cx="10515600" cy="640080"/>
          </a:xfrm>
          <a:prstGeom prst="rect">
            <a:avLst/>
          </a:prstGeom>
          <a:noFill/>
        </p:spPr>
        <p:txBody>
          <a:bodyPr wrap="square" lIns="45720" rIns="45720" tIns="27432" bIns="27432" anchor="t">
            <a:spAutoFit/>
          </a:bodyPr>
          <a:lstStyle/>
          <a:p>
            <a:pPr algn="l">
              <a:lnSpc>
                <a:spcPct val="110000"/>
              </a:lnSpc>
              <a:spcAft>
                <a:spcPts val="400"/>
              </a:spcAft>
            </a:pPr>
            <a:r>
              <a:rPr sz="2200" b="0" i="0">
                <a:solidFill>
                  <a:srgbClr val="B8C4D6"/>
                </a:solidFill>
                <a:latin typeface="Calibri"/>
              </a:rPr>
              <a:t>Sonde NPM / NDR open-source — souveraine, on-prem, déployée en 30 minutes</a:t>
            </a:r>
          </a:p>
        </p:txBody>
      </p:sp>
      <p:sp>
        <p:nvSpPr>
          <p:cNvPr id="7" name="TextBox 6"/>
          <p:cNvSpPr txBox="1"/>
          <p:nvPr/>
        </p:nvSpPr>
        <p:spPr>
          <a:xfrm>
            <a:off x="868680" y="3886200"/>
            <a:ext cx="10058400" cy="457200"/>
          </a:xfrm>
          <a:prstGeom prst="rect">
            <a:avLst/>
          </a:prstGeom>
          <a:noFill/>
        </p:spPr>
        <p:txBody>
          <a:bodyPr wrap="square" lIns="45720" rIns="45720" tIns="27432" bIns="27432" anchor="t">
            <a:spAutoFit/>
          </a:bodyPr>
          <a:lstStyle/>
          <a:p>
            <a:pPr algn="l">
              <a:lnSpc>
                <a:spcPct val="110000"/>
              </a:lnSpc>
              <a:spcAft>
                <a:spcPts val="400"/>
              </a:spcAft>
            </a:pPr>
            <a:r>
              <a:rPr sz="1800" b="1" i="0">
                <a:solidFill>
                  <a:srgbClr val="0EA5C0"/>
                </a:solidFill>
                <a:latin typeface="Calibri"/>
              </a:rPr>
              <a:t>Présentation BP2i — équipe Réseau / NPM</a:t>
            </a:r>
          </a:p>
        </p:txBody>
      </p:sp>
      <p:sp>
        <p:nvSpPr>
          <p:cNvPr id="8" name="TextBox 7"/>
          <p:cNvSpPr txBox="1"/>
          <p:nvPr/>
        </p:nvSpPr>
        <p:spPr>
          <a:xfrm>
            <a:off x="868680" y="4343400"/>
            <a:ext cx="10058400" cy="822960"/>
          </a:xfrm>
          <a:prstGeom prst="rect">
            <a:avLst/>
          </a:prstGeom>
          <a:noFill/>
        </p:spPr>
        <p:txBody>
          <a:bodyPr wrap="square" lIns="45720" rIns="45720" tIns="27432" bIns="27432" anchor="t">
            <a:spAutoFit/>
          </a:bodyPr>
          <a:lstStyle/>
          <a:p>
            <a:pPr algn="l">
              <a:lnSpc>
                <a:spcPct val="110000"/>
              </a:lnSpc>
              <a:spcAft>
                <a:spcPts val="400"/>
              </a:spcAft>
            </a:pPr>
            <a:r>
              <a:rPr sz="1400" b="0" i="0">
                <a:solidFill>
                  <a:srgbClr val="B8C4D6"/>
                </a:solidFill>
                <a:latin typeface="Calibri"/>
              </a:rPr>
              <a:t>Axians · Vinci Energies — Nicolas Malok, analyste observabilité NPM</a:t>
            </a:r>
          </a:p>
          <a:p>
            <a:pPr algn="l">
              <a:lnSpc>
                <a:spcPct val="110000"/>
              </a:lnSpc>
              <a:spcAft>
                <a:spcPts val="400"/>
              </a:spcAft>
            </a:pPr>
            <a:r>
              <a:rPr sz="1400" b="0" i="0">
                <a:solidFill>
                  <a:srgbClr val="B8C4D6"/>
                </a:solidFill>
                <a:latin typeface="Calibri"/>
              </a:rPr>
              <a:t>Septembre 2026 · version 2.1</a:t>
            </a:r>
          </a:p>
        </p:txBody>
      </p:sp>
      <p:sp>
        <p:nvSpPr>
          <p:cNvPr id="9" name="TextBox 8"/>
          <p:cNvSpPr txBox="1"/>
          <p:nvPr/>
        </p:nvSpPr>
        <p:spPr>
          <a:xfrm>
            <a:off x="868680" y="5806440"/>
            <a:ext cx="1005840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7C8AA3"/>
                </a:solidFill>
                <a:latin typeface="Calibri"/>
              </a:rPr>
              <a:t>Démonstration live sur une sonde réelle en fin de séance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2</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Le trou dans la couverture</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Ce que le NPM commercial ne voit pas — et pourquoi ça coûte</a:t>
            </a:r>
          </a:p>
        </p:txBody>
      </p:sp>
      <p:sp>
        <p:nvSpPr>
          <p:cNvPr id="6" name="Rounded Rectangle 5"/>
          <p:cNvSpPr/>
          <p:nvPr/>
        </p:nvSpPr>
        <p:spPr>
          <a:xfrm>
            <a:off x="548640" y="1645920"/>
            <a:ext cx="3566160" cy="23317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49808" y="1847088"/>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8" name="TextBox 7"/>
          <p:cNvSpPr txBox="1"/>
          <p:nvPr/>
        </p:nvSpPr>
        <p:spPr>
          <a:xfrm>
            <a:off x="1261872" y="1810512"/>
            <a:ext cx="2670048"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Périmètres non instrumentés</a:t>
            </a:r>
          </a:p>
        </p:txBody>
      </p:sp>
      <p:sp>
        <p:nvSpPr>
          <p:cNvPr id="9" name="TextBox 8"/>
          <p:cNvSpPr txBox="1"/>
          <p:nvPr/>
        </p:nvSpPr>
        <p:spPr>
          <a:xfrm>
            <a:off x="731520" y="2304288"/>
            <a:ext cx="3200400" cy="1554479"/>
          </a:xfrm>
          <a:prstGeom prst="rect">
            <a:avLst/>
          </a:prstGeom>
          <a:noFill/>
        </p:spPr>
        <p:txBody>
          <a:bodyPr wrap="square" lIns="45720" rIns="45720" tIns="27432" bIns="27432">
            <a:spAutoFit/>
          </a:bodyPr>
          <a:lstStyle/>
          <a:p>
            <a:pPr>
              <a:lnSpc>
                <a:spcPct val="108000"/>
              </a:lnSpc>
              <a:spcAft>
                <a:spcPts val="400"/>
              </a:spcAft>
            </a:pPr>
            <a:r>
              <a:rPr sz="1300" b="1">
                <a:solidFill>
                  <a:srgbClr val="0EA5C0"/>
                </a:solidFill>
                <a:latin typeface="Calibri"/>
              </a:rPr>
              <a:t>▸ </a:t>
            </a:r>
            <a:r>
              <a:rPr sz="1300" b="0" i="0">
                <a:solidFill>
                  <a:srgbClr val="111B2E"/>
                </a:solidFill>
                <a:latin typeface="Calibri"/>
              </a:rPr>
              <a:t>agences et sites secondaires</a:t>
            </a:r>
          </a:p>
          <a:p>
            <a:pPr>
              <a:lnSpc>
                <a:spcPct val="108000"/>
              </a:lnSpc>
              <a:spcAft>
                <a:spcPts val="400"/>
              </a:spcAft>
            </a:pPr>
            <a:r>
              <a:rPr sz="1300" b="1">
                <a:solidFill>
                  <a:srgbClr val="0EA5C0"/>
                </a:solidFill>
                <a:latin typeface="Calibri"/>
              </a:rPr>
              <a:t>▸ </a:t>
            </a:r>
            <a:r>
              <a:rPr sz="1300" b="0" i="0">
                <a:solidFill>
                  <a:srgbClr val="111B2E"/>
                </a:solidFill>
                <a:latin typeface="Calibri"/>
              </a:rPr>
              <a:t>labs, hors-prod, pré-production</a:t>
            </a:r>
          </a:p>
          <a:p>
            <a:pPr>
              <a:lnSpc>
                <a:spcPct val="108000"/>
              </a:lnSpc>
              <a:spcAft>
                <a:spcPts val="400"/>
              </a:spcAft>
            </a:pPr>
            <a:r>
              <a:rPr sz="1300" b="1">
                <a:solidFill>
                  <a:srgbClr val="0EA5C0"/>
                </a:solidFill>
                <a:latin typeface="Calibri"/>
              </a:rPr>
              <a:t>▸ </a:t>
            </a:r>
            <a:r>
              <a:rPr sz="1300" b="0" i="0">
                <a:solidFill>
                  <a:srgbClr val="111B2E"/>
                </a:solidFill>
                <a:latin typeface="Calibri"/>
              </a:rPr>
              <a:t>filiales et sites distants</a:t>
            </a:r>
          </a:p>
          <a:p>
            <a:pPr>
              <a:lnSpc>
                <a:spcPct val="108000"/>
              </a:lnSpc>
              <a:spcAft>
                <a:spcPts val="400"/>
              </a:spcAft>
            </a:pPr>
            <a:r>
              <a:rPr sz="1300" b="1">
                <a:solidFill>
                  <a:srgbClr val="0EA5C0"/>
                </a:solidFill>
                <a:latin typeface="Calibri"/>
              </a:rPr>
              <a:t>▸ </a:t>
            </a:r>
            <a:r>
              <a:rPr sz="1300" b="0" i="0">
                <a:solidFill>
                  <a:srgbClr val="111B2E"/>
                </a:solidFill>
                <a:latin typeface="Calibri"/>
              </a:rPr>
              <a:t>segments IoT / OT / gestion</a:t>
            </a:r>
          </a:p>
        </p:txBody>
      </p:sp>
      <p:sp>
        <p:nvSpPr>
          <p:cNvPr id="10" name="Rounded Rectangle 9"/>
          <p:cNvSpPr/>
          <p:nvPr/>
        </p:nvSpPr>
        <p:spPr>
          <a:xfrm>
            <a:off x="4315968" y="1645920"/>
            <a:ext cx="3566160" cy="23317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4517136" y="1847088"/>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5029200" y="1810512"/>
            <a:ext cx="2670047"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Coût marginal d'une sonde</a:t>
            </a:r>
          </a:p>
        </p:txBody>
      </p:sp>
      <p:sp>
        <p:nvSpPr>
          <p:cNvPr id="13" name="TextBox 12"/>
          <p:cNvSpPr txBox="1"/>
          <p:nvPr/>
        </p:nvSpPr>
        <p:spPr>
          <a:xfrm>
            <a:off x="4498848" y="2304288"/>
            <a:ext cx="3200400" cy="1554479"/>
          </a:xfrm>
          <a:prstGeom prst="rect">
            <a:avLst/>
          </a:prstGeom>
          <a:noFill/>
        </p:spPr>
        <p:txBody>
          <a:bodyPr wrap="square" lIns="45720" rIns="45720" tIns="27432" bIns="27432">
            <a:spAutoFit/>
          </a:bodyPr>
          <a:lstStyle/>
          <a:p>
            <a:pPr>
              <a:lnSpc>
                <a:spcPct val="108000"/>
              </a:lnSpc>
              <a:spcAft>
                <a:spcPts val="400"/>
              </a:spcAft>
            </a:pPr>
            <a:r>
              <a:rPr sz="1300" b="1">
                <a:solidFill>
                  <a:srgbClr val="0EA5C0"/>
                </a:solidFill>
                <a:latin typeface="Calibri"/>
              </a:rPr>
              <a:t>▸ </a:t>
            </a:r>
            <a:r>
              <a:rPr sz="1300" b="0" i="0">
                <a:solidFill>
                  <a:srgbClr val="111B2E"/>
                </a:solidFill>
                <a:latin typeface="Calibri"/>
              </a:rPr>
              <a:t>licence par sonde : 10–100 k€ / an</a:t>
            </a:r>
          </a:p>
          <a:p>
            <a:pPr>
              <a:lnSpc>
                <a:spcPct val="108000"/>
              </a:lnSpc>
              <a:spcAft>
                <a:spcPts val="400"/>
              </a:spcAft>
            </a:pPr>
            <a:r>
              <a:rPr sz="1300" b="1">
                <a:solidFill>
                  <a:srgbClr val="0EA5C0"/>
                </a:solidFill>
                <a:latin typeface="Calibri"/>
              </a:rPr>
              <a:t>▸ </a:t>
            </a:r>
            <a:r>
              <a:rPr sz="1300" b="0" i="0">
                <a:solidFill>
                  <a:srgbClr val="111B2E"/>
                </a:solidFill>
                <a:latin typeface="Calibri"/>
              </a:rPr>
              <a:t>prix ≠ valeur du périmètre couvert</a:t>
            </a:r>
          </a:p>
          <a:p>
            <a:pPr>
              <a:lnSpc>
                <a:spcPct val="108000"/>
              </a:lnSpc>
              <a:spcAft>
                <a:spcPts val="400"/>
              </a:spcAft>
            </a:pPr>
            <a:r>
              <a:rPr sz="1300" b="1">
                <a:solidFill>
                  <a:srgbClr val="0EA5C0"/>
                </a:solidFill>
                <a:latin typeface="Calibri"/>
              </a:rPr>
              <a:t>▸ </a:t>
            </a:r>
            <a:r>
              <a:rPr sz="1300" b="0" i="0">
                <a:solidFill>
                  <a:srgbClr val="111B2E"/>
                </a:solidFill>
                <a:latin typeface="Calibri"/>
              </a:rPr>
              <a:t>résultat : on choisit de ne pas voir</a:t>
            </a:r>
          </a:p>
        </p:txBody>
      </p:sp>
      <p:sp>
        <p:nvSpPr>
          <p:cNvPr id="14" name="Rounded Rectangle 13"/>
          <p:cNvSpPr/>
          <p:nvPr/>
        </p:nvSpPr>
        <p:spPr>
          <a:xfrm>
            <a:off x="8083296" y="1645920"/>
            <a:ext cx="3566160" cy="233172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8284464" y="1847088"/>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6" name="TextBox 15"/>
          <p:cNvSpPr txBox="1"/>
          <p:nvPr/>
        </p:nvSpPr>
        <p:spPr>
          <a:xfrm>
            <a:off x="8796528" y="1810512"/>
            <a:ext cx="2670048"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Exigences réglementaires</a:t>
            </a:r>
          </a:p>
        </p:txBody>
      </p:sp>
      <p:sp>
        <p:nvSpPr>
          <p:cNvPr id="17" name="TextBox 16"/>
          <p:cNvSpPr txBox="1"/>
          <p:nvPr/>
        </p:nvSpPr>
        <p:spPr>
          <a:xfrm>
            <a:off x="8266175" y="2304288"/>
            <a:ext cx="3200400" cy="1554479"/>
          </a:xfrm>
          <a:prstGeom prst="rect">
            <a:avLst/>
          </a:prstGeom>
          <a:noFill/>
        </p:spPr>
        <p:txBody>
          <a:bodyPr wrap="square" lIns="45720" rIns="45720" tIns="27432" bIns="27432">
            <a:spAutoFit/>
          </a:bodyPr>
          <a:lstStyle/>
          <a:p>
            <a:pPr>
              <a:lnSpc>
                <a:spcPct val="108000"/>
              </a:lnSpc>
              <a:spcAft>
                <a:spcPts val="400"/>
              </a:spcAft>
            </a:pPr>
            <a:r>
              <a:rPr sz="1300" b="1">
                <a:solidFill>
                  <a:srgbClr val="0EA5C0"/>
                </a:solidFill>
                <a:latin typeface="Calibri"/>
              </a:rPr>
              <a:t>▸ </a:t>
            </a:r>
            <a:r>
              <a:rPr sz="1300" b="0" i="0">
                <a:solidFill>
                  <a:srgbClr val="111B2E"/>
                </a:solidFill>
                <a:latin typeface="Calibri"/>
              </a:rPr>
              <a:t>DORA (art. 9–10) : surveillance et détection sur l'ensemble du SI</a:t>
            </a:r>
          </a:p>
          <a:p>
            <a:pPr>
              <a:lnSpc>
                <a:spcPct val="108000"/>
              </a:lnSpc>
              <a:spcAft>
                <a:spcPts val="400"/>
              </a:spcAft>
            </a:pPr>
            <a:r>
              <a:rPr sz="1300" b="1">
                <a:solidFill>
                  <a:srgbClr val="0EA5C0"/>
                </a:solidFill>
                <a:latin typeface="Calibri"/>
              </a:rPr>
              <a:t>▸ </a:t>
            </a:r>
            <a:r>
              <a:rPr sz="1300" b="0" i="0">
                <a:solidFill>
                  <a:srgbClr val="111B2E"/>
                </a:solidFill>
                <a:latin typeface="Calibri"/>
              </a:rPr>
              <a:t>NIS2 : journalisation, détection, réponse</a:t>
            </a:r>
          </a:p>
          <a:p>
            <a:pPr>
              <a:lnSpc>
                <a:spcPct val="108000"/>
              </a:lnSpc>
              <a:spcAft>
                <a:spcPts val="400"/>
              </a:spcAft>
            </a:pPr>
            <a:r>
              <a:rPr sz="1300" b="1">
                <a:solidFill>
                  <a:srgbClr val="0EA5C0"/>
                </a:solidFill>
                <a:latin typeface="Calibri"/>
              </a:rPr>
              <a:t>▸ </a:t>
            </a:r>
            <a:r>
              <a:rPr sz="1300" b="0" i="0">
                <a:solidFill>
                  <a:srgbClr val="111B2E"/>
                </a:solidFill>
                <a:latin typeface="Calibri"/>
              </a:rPr>
              <a:t>l'audit ne s'arrête pas au cœur de réseau</a:t>
            </a:r>
          </a:p>
        </p:txBody>
      </p:sp>
      <p:sp>
        <p:nvSpPr>
          <p:cNvPr id="18" name="Rounded Rectangle 17"/>
          <p:cNvSpPr/>
          <p:nvPr/>
        </p:nvSpPr>
        <p:spPr>
          <a:xfrm>
            <a:off x="548640" y="4343400"/>
            <a:ext cx="11091672" cy="1325880"/>
          </a:xfrm>
          <a:prstGeom prst="roundRect">
            <a:avLst>
              <a:gd name="adj" fmla="val 8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4507992"/>
            <a:ext cx="10607040" cy="100584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La question : </a:t>
            </a:r>
            <a:r>
              <a:rPr sz="1500" b="0" i="0">
                <a:solidFill>
                  <a:srgbClr val="111B2E"/>
                </a:solidFill>
                <a:latin typeface="Calibri"/>
              </a:rPr>
              <a:t>comment instrumenter les 20 % de périmètre restants avec les mêmes indicateurs (ART, santé TCP, SLA, flux) — sans multiplier les licences, et sans qu'une donnée sorte du SI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3</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NetWatch en une phrase</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Une sonde passive + active qui reproduit les fonctions clés d'un NPM/NDR avec des briques open-source</a:t>
            </a:r>
          </a:p>
        </p:txBody>
      </p:sp>
      <p:sp>
        <p:nvSpPr>
          <p:cNvPr id="6" name="TextBox 5"/>
          <p:cNvSpPr txBox="1"/>
          <p:nvPr/>
        </p:nvSpPr>
        <p:spPr>
          <a:xfrm>
            <a:off x="548640" y="1645920"/>
            <a:ext cx="11064240" cy="914400"/>
          </a:xfrm>
          <a:prstGeom prst="rect">
            <a:avLst/>
          </a:prstGeom>
          <a:noFill/>
        </p:spPr>
        <p:txBody>
          <a:bodyPr wrap="square" lIns="45720" rIns="45720" tIns="27432" bIns="27432" anchor="t">
            <a:spAutoFit/>
          </a:bodyPr>
          <a:lstStyle/>
          <a:p>
            <a:pPr algn="l">
              <a:lnSpc>
                <a:spcPct val="110000"/>
              </a:lnSpc>
              <a:spcAft>
                <a:spcPts val="400"/>
              </a:spcAft>
            </a:pPr>
            <a:r>
              <a:rPr sz="1600" b="1" i="0">
                <a:solidFill>
                  <a:srgbClr val="0EA5C0"/>
                </a:solidFill>
                <a:latin typeface="Calibri"/>
              </a:rPr>
              <a:t>Un port SPAN, une VM, une commande. </a:t>
            </a:r>
            <a:r>
              <a:rPr sz="1600" b="0" i="0">
                <a:solidFill>
                  <a:srgbClr val="111B2E"/>
                </a:solidFill>
                <a:latin typeface="Calibri"/>
              </a:rPr>
              <a:t>Zeek, Snort et Suricata analysent le trafic ; GoFlow2 collecte NetFlow/IPFIX/sFlow ; Prometheus scrute SNMP et lance des sondes actives ; Elasticsearch stocke ; un portail unique restitue — flux, temps de réponse, santé TCP, SLA, alertes.</a:t>
            </a:r>
          </a:p>
        </p:txBody>
      </p:sp>
      <p:sp>
        <p:nvSpPr>
          <p:cNvPr id="7" name="Rounded Rectangle 6"/>
          <p:cNvSpPr/>
          <p:nvPr/>
        </p:nvSpPr>
        <p:spPr>
          <a:xfrm>
            <a:off x="548640" y="2880360"/>
            <a:ext cx="2651760" cy="1737360"/>
          </a:xfrm>
          <a:prstGeom prst="roundRect">
            <a:avLst>
              <a:gd name="adj" fmla="val 8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3044952"/>
            <a:ext cx="2651760" cy="822960"/>
          </a:xfrm>
          <a:prstGeom prst="rect">
            <a:avLst/>
          </a:prstGeom>
          <a:noFill/>
        </p:spPr>
        <p:txBody>
          <a:bodyPr wrap="square" lIns="45720" rIns="45720" tIns="27432" bIns="27432" anchor="t">
            <a:spAutoFit/>
          </a:bodyPr>
          <a:lstStyle/>
          <a:p>
            <a:pPr algn="ctr">
              <a:lnSpc>
                <a:spcPct val="110000"/>
              </a:lnSpc>
              <a:spcAft>
                <a:spcPts val="400"/>
              </a:spcAft>
            </a:pPr>
            <a:r>
              <a:rPr sz="3600" b="1" i="0">
                <a:solidFill>
                  <a:srgbClr val="0EA5C0"/>
                </a:solidFill>
                <a:latin typeface="Calibri"/>
              </a:rPr>
              <a:t>0 €</a:t>
            </a:r>
          </a:p>
        </p:txBody>
      </p:sp>
      <p:sp>
        <p:nvSpPr>
          <p:cNvPr id="9" name="TextBox 8"/>
          <p:cNvSpPr txBox="1"/>
          <p:nvPr/>
        </p:nvSpPr>
        <p:spPr>
          <a:xfrm>
            <a:off x="685800" y="3840480"/>
            <a:ext cx="2377440" cy="685800"/>
          </a:xfrm>
          <a:prstGeom prst="rect">
            <a:avLst/>
          </a:prstGeom>
          <a:noFill/>
        </p:spPr>
        <p:txBody>
          <a:bodyPr wrap="square" lIns="45720" rIns="45720" tIns="27432" bIns="27432" anchor="t">
            <a:spAutoFit/>
          </a:bodyPr>
          <a:lstStyle/>
          <a:p>
            <a:pPr algn="ctr">
              <a:lnSpc>
                <a:spcPct val="110000"/>
              </a:lnSpc>
              <a:spcAft>
                <a:spcPts val="400"/>
              </a:spcAft>
            </a:pPr>
            <a:r>
              <a:rPr sz="1200" b="0" i="0">
                <a:solidFill>
                  <a:srgbClr val="5B677D"/>
                </a:solidFill>
                <a:latin typeface="Calibri"/>
              </a:rPr>
              <a:t>de licence — AGPL v3, code auditable</a:t>
            </a:r>
          </a:p>
        </p:txBody>
      </p:sp>
      <p:sp>
        <p:nvSpPr>
          <p:cNvPr id="10" name="Rounded Rectangle 9"/>
          <p:cNvSpPr/>
          <p:nvPr/>
        </p:nvSpPr>
        <p:spPr>
          <a:xfrm>
            <a:off x="3364992" y="2880360"/>
            <a:ext cx="2651760" cy="1737360"/>
          </a:xfrm>
          <a:prstGeom prst="roundRect">
            <a:avLst>
              <a:gd name="adj" fmla="val 8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64992" y="3044952"/>
            <a:ext cx="2651760" cy="822960"/>
          </a:xfrm>
          <a:prstGeom prst="rect">
            <a:avLst/>
          </a:prstGeom>
          <a:noFill/>
        </p:spPr>
        <p:txBody>
          <a:bodyPr wrap="square" lIns="45720" rIns="45720" tIns="27432" bIns="27432" anchor="t">
            <a:spAutoFit/>
          </a:bodyPr>
          <a:lstStyle/>
          <a:p>
            <a:pPr algn="ctr">
              <a:lnSpc>
                <a:spcPct val="110000"/>
              </a:lnSpc>
              <a:spcAft>
                <a:spcPts val="400"/>
              </a:spcAft>
            </a:pPr>
            <a:r>
              <a:rPr sz="3600" b="1" i="0">
                <a:solidFill>
                  <a:srgbClr val="0EA5C0"/>
                </a:solidFill>
                <a:latin typeface="Calibri"/>
              </a:rPr>
              <a:t>100 %</a:t>
            </a:r>
          </a:p>
        </p:txBody>
      </p:sp>
      <p:sp>
        <p:nvSpPr>
          <p:cNvPr id="12" name="TextBox 11"/>
          <p:cNvSpPr txBox="1"/>
          <p:nvPr/>
        </p:nvSpPr>
        <p:spPr>
          <a:xfrm>
            <a:off x="3502152" y="3840480"/>
            <a:ext cx="2377440" cy="685800"/>
          </a:xfrm>
          <a:prstGeom prst="rect">
            <a:avLst/>
          </a:prstGeom>
          <a:noFill/>
        </p:spPr>
        <p:txBody>
          <a:bodyPr wrap="square" lIns="45720" rIns="45720" tIns="27432" bIns="27432" anchor="t">
            <a:spAutoFit/>
          </a:bodyPr>
          <a:lstStyle/>
          <a:p>
            <a:pPr algn="ctr">
              <a:lnSpc>
                <a:spcPct val="110000"/>
              </a:lnSpc>
              <a:spcAft>
                <a:spcPts val="400"/>
              </a:spcAft>
            </a:pPr>
            <a:r>
              <a:rPr sz="1200" b="0" i="0">
                <a:solidFill>
                  <a:srgbClr val="5B677D"/>
                </a:solidFill>
                <a:latin typeface="Calibri"/>
              </a:rPr>
              <a:t>on-prem — aucune donnée ne sort, IA locale comprise</a:t>
            </a:r>
          </a:p>
        </p:txBody>
      </p:sp>
      <p:sp>
        <p:nvSpPr>
          <p:cNvPr id="13" name="Rounded Rectangle 12"/>
          <p:cNvSpPr/>
          <p:nvPr/>
        </p:nvSpPr>
        <p:spPr>
          <a:xfrm>
            <a:off x="6181344" y="2880360"/>
            <a:ext cx="2651760" cy="1737360"/>
          </a:xfrm>
          <a:prstGeom prst="roundRect">
            <a:avLst>
              <a:gd name="adj" fmla="val 8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81344" y="3044952"/>
            <a:ext cx="2651760" cy="822960"/>
          </a:xfrm>
          <a:prstGeom prst="rect">
            <a:avLst/>
          </a:prstGeom>
          <a:noFill/>
        </p:spPr>
        <p:txBody>
          <a:bodyPr wrap="square" lIns="45720" rIns="45720" tIns="27432" bIns="27432" anchor="t">
            <a:spAutoFit/>
          </a:bodyPr>
          <a:lstStyle/>
          <a:p>
            <a:pPr algn="ctr">
              <a:lnSpc>
                <a:spcPct val="110000"/>
              </a:lnSpc>
              <a:spcAft>
                <a:spcPts val="400"/>
              </a:spcAft>
            </a:pPr>
            <a:r>
              <a:rPr sz="3600" b="1" i="0">
                <a:solidFill>
                  <a:srgbClr val="0EA5C0"/>
                </a:solidFill>
                <a:latin typeface="Calibri"/>
              </a:rPr>
              <a:t>24</a:t>
            </a:r>
          </a:p>
        </p:txBody>
      </p:sp>
      <p:sp>
        <p:nvSpPr>
          <p:cNvPr id="15" name="TextBox 14"/>
          <p:cNvSpPr txBox="1"/>
          <p:nvPr/>
        </p:nvSpPr>
        <p:spPr>
          <a:xfrm>
            <a:off x="6318504" y="3840480"/>
            <a:ext cx="2377440" cy="685800"/>
          </a:xfrm>
          <a:prstGeom prst="rect">
            <a:avLst/>
          </a:prstGeom>
          <a:noFill/>
        </p:spPr>
        <p:txBody>
          <a:bodyPr wrap="square" lIns="45720" rIns="45720" tIns="27432" bIns="27432" anchor="t">
            <a:spAutoFit/>
          </a:bodyPr>
          <a:lstStyle/>
          <a:p>
            <a:pPr algn="ctr">
              <a:lnSpc>
                <a:spcPct val="110000"/>
              </a:lnSpc>
              <a:spcAft>
                <a:spcPts val="400"/>
              </a:spcAft>
            </a:pPr>
            <a:r>
              <a:rPr sz="1200" b="0" i="0">
                <a:solidFill>
                  <a:srgbClr val="5B677D"/>
                </a:solidFill>
                <a:latin typeface="Calibri"/>
              </a:rPr>
              <a:t>services conteneurisés, 1 ou 2 VM</a:t>
            </a:r>
          </a:p>
        </p:txBody>
      </p:sp>
      <p:sp>
        <p:nvSpPr>
          <p:cNvPr id="16" name="Rounded Rectangle 15"/>
          <p:cNvSpPr/>
          <p:nvPr/>
        </p:nvSpPr>
        <p:spPr>
          <a:xfrm>
            <a:off x="8997696" y="2880360"/>
            <a:ext cx="2651760" cy="1737360"/>
          </a:xfrm>
          <a:prstGeom prst="roundRect">
            <a:avLst>
              <a:gd name="adj" fmla="val 8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997696" y="3044952"/>
            <a:ext cx="2651760" cy="822960"/>
          </a:xfrm>
          <a:prstGeom prst="rect">
            <a:avLst/>
          </a:prstGeom>
          <a:noFill/>
        </p:spPr>
        <p:txBody>
          <a:bodyPr wrap="square" lIns="45720" rIns="45720" tIns="27432" bIns="27432" anchor="t">
            <a:spAutoFit/>
          </a:bodyPr>
          <a:lstStyle/>
          <a:p>
            <a:pPr algn="ctr">
              <a:lnSpc>
                <a:spcPct val="110000"/>
              </a:lnSpc>
              <a:spcAft>
                <a:spcPts val="400"/>
              </a:spcAft>
            </a:pPr>
            <a:r>
              <a:rPr sz="3600" b="1" i="0">
                <a:solidFill>
                  <a:srgbClr val="0EA5C0"/>
                </a:solidFill>
                <a:latin typeface="Calibri"/>
              </a:rPr>
              <a:t>30 min</a:t>
            </a:r>
          </a:p>
        </p:txBody>
      </p:sp>
      <p:sp>
        <p:nvSpPr>
          <p:cNvPr id="18" name="TextBox 17"/>
          <p:cNvSpPr txBox="1"/>
          <p:nvPr/>
        </p:nvSpPr>
        <p:spPr>
          <a:xfrm>
            <a:off x="9134856" y="3840480"/>
            <a:ext cx="2377440" cy="685800"/>
          </a:xfrm>
          <a:prstGeom prst="rect">
            <a:avLst/>
          </a:prstGeom>
          <a:noFill/>
        </p:spPr>
        <p:txBody>
          <a:bodyPr wrap="square" lIns="45720" rIns="45720" tIns="27432" bIns="27432" anchor="t">
            <a:spAutoFit/>
          </a:bodyPr>
          <a:lstStyle/>
          <a:p>
            <a:pPr algn="ctr">
              <a:lnSpc>
                <a:spcPct val="110000"/>
              </a:lnSpc>
              <a:spcAft>
                <a:spcPts val="400"/>
              </a:spcAft>
            </a:pPr>
            <a:r>
              <a:rPr sz="1200" b="0" i="0">
                <a:solidFill>
                  <a:srgbClr val="5B677D"/>
                </a:solidFill>
                <a:latin typeface="Calibri"/>
              </a:rPr>
              <a:t>d'installation (install.sh), 10 min de démo</a:t>
            </a:r>
          </a:p>
        </p:txBody>
      </p:sp>
      <p:sp>
        <p:nvSpPr>
          <p:cNvPr id="19" name="TextBox 18"/>
          <p:cNvSpPr txBox="1"/>
          <p:nvPr/>
        </p:nvSpPr>
        <p:spPr>
          <a:xfrm>
            <a:off x="548640" y="4937760"/>
            <a:ext cx="11064240" cy="118872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Ce que ça n'est pas : </a:t>
            </a:r>
            <a:r>
              <a:rPr sz="1400" b="0" i="0">
                <a:solidFill>
                  <a:srgbClr val="111B2E"/>
                </a:solidFill>
                <a:latin typeface="Calibri"/>
              </a:rPr>
              <a:t>un remplaçant de votre NPM cœur de réseau. </a:t>
            </a:r>
            <a:r>
              <a:rPr sz="1400" b="1" i="0">
                <a:solidFill>
                  <a:srgbClr val="111B2E"/>
                </a:solidFill>
                <a:latin typeface="Calibri"/>
              </a:rPr>
              <a:t>Ce que c'est : </a:t>
            </a:r>
            <a:r>
              <a:rPr sz="1400" b="0" i="0">
                <a:solidFill>
                  <a:srgbClr val="111B2E"/>
                </a:solidFill>
                <a:latin typeface="Calibri"/>
              </a:rPr>
              <a:t>le même vocabulaire — ART p50/p95/p99, retransmissions, zero-window, SLA heures ouvrées — porté sur les périmètres où une sonde commerciale n'ira jamais, et un labo pour tester des scénarios avant de les déployer.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4</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Complément, pas remplacement</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Où NetWatch se place par rapport au NPM commercial de BP2i</a:t>
            </a:r>
          </a:p>
        </p:txBody>
      </p:sp>
      <p:sp>
        <p:nvSpPr>
          <p:cNvPr id="6" name="Rounded Rectangle 5"/>
          <p:cNvSpPr/>
          <p:nvPr/>
        </p:nvSpPr>
        <p:spPr>
          <a:xfrm>
            <a:off x="4114800" y="2148840"/>
            <a:ext cx="3931920" cy="1737360"/>
          </a:xfrm>
          <a:prstGeom prst="roundRect">
            <a:avLst>
              <a:gd name="adj" fmla="val 8000"/>
            </a:avLst>
          </a:prstGeom>
          <a:solidFill>
            <a:srgbClr val="14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206240" y="2286000"/>
            <a:ext cx="3749039" cy="457200"/>
          </a:xfrm>
          <a:prstGeom prst="rect">
            <a:avLst/>
          </a:prstGeom>
          <a:noFill/>
        </p:spPr>
        <p:txBody>
          <a:bodyPr wrap="square" lIns="45720" rIns="45720" tIns="27432" bIns="27432" anchor="t">
            <a:spAutoFit/>
          </a:bodyPr>
          <a:lstStyle/>
          <a:p>
            <a:pPr algn="ctr">
              <a:lnSpc>
                <a:spcPct val="110000"/>
              </a:lnSpc>
              <a:spcAft>
                <a:spcPts val="400"/>
              </a:spcAft>
            </a:pPr>
            <a:r>
              <a:rPr sz="1800" b="1" i="0">
                <a:solidFill>
                  <a:srgbClr val="FFFFFF"/>
                </a:solidFill>
                <a:latin typeface="Calibri"/>
              </a:rPr>
              <a:t>Cœur BP2i</a:t>
            </a:r>
          </a:p>
        </p:txBody>
      </p:sp>
      <p:sp>
        <p:nvSpPr>
          <p:cNvPr id="8" name="TextBox 7"/>
          <p:cNvSpPr txBox="1"/>
          <p:nvPr/>
        </p:nvSpPr>
        <p:spPr>
          <a:xfrm>
            <a:off x="4206240" y="2743200"/>
            <a:ext cx="3749039" cy="1097280"/>
          </a:xfrm>
          <a:prstGeom prst="rect">
            <a:avLst/>
          </a:prstGeom>
          <a:noFill/>
        </p:spPr>
        <p:txBody>
          <a:bodyPr wrap="square" lIns="45720" rIns="45720" tIns="27432" bIns="27432" anchor="t">
            <a:spAutoFit/>
          </a:bodyPr>
          <a:lstStyle/>
          <a:p>
            <a:pPr algn="ctr">
              <a:lnSpc>
                <a:spcPct val="110000"/>
              </a:lnSpc>
              <a:spcAft>
                <a:spcPts val="400"/>
              </a:spcAft>
            </a:pPr>
            <a:r>
              <a:rPr sz="1300" b="0" i="0">
                <a:solidFill>
                  <a:srgbClr val="B8C4D6"/>
                </a:solidFill>
                <a:latin typeface="Calibri"/>
              </a:rPr>
              <a:t>NPM commercial (Netscout / Riverbed)</a:t>
            </a:r>
          </a:p>
          <a:p>
            <a:pPr algn="ctr">
              <a:lnSpc>
                <a:spcPct val="110000"/>
              </a:lnSpc>
              <a:spcAft>
                <a:spcPts val="400"/>
              </a:spcAft>
            </a:pPr>
            <a:r>
              <a:rPr sz="1300" b="0" i="0">
                <a:solidFill>
                  <a:srgbClr val="B8C4D6"/>
                </a:solidFill>
                <a:latin typeface="Calibri"/>
              </a:rPr>
              <a:t>datacenters, WAN, applications critiques</a:t>
            </a:r>
          </a:p>
          <a:p>
            <a:pPr algn="ctr">
              <a:lnSpc>
                <a:spcPct val="110000"/>
              </a:lnSpc>
              <a:spcAft>
                <a:spcPts val="400"/>
              </a:spcAft>
            </a:pPr>
            <a:r>
              <a:rPr sz="1300" b="0" i="0">
                <a:solidFill>
                  <a:srgbClr val="B8C4D6"/>
                </a:solidFill>
                <a:latin typeface="Calibri"/>
              </a:rPr>
              <a:t>→ inchangé</a:t>
            </a:r>
          </a:p>
        </p:txBody>
      </p:sp>
      <p:sp>
        <p:nvSpPr>
          <p:cNvPr id="9" name="Rounded Rectangle 8"/>
          <p:cNvSpPr/>
          <p:nvPr/>
        </p:nvSpPr>
        <p:spPr>
          <a:xfrm>
            <a:off x="548640" y="1600200"/>
            <a:ext cx="3063240" cy="1188720"/>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737360"/>
            <a:ext cx="2743200" cy="45720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Agences / sites secondaires</a:t>
            </a:r>
          </a:p>
        </p:txBody>
      </p:sp>
      <p:sp>
        <p:nvSpPr>
          <p:cNvPr id="11" name="TextBox 10"/>
          <p:cNvSpPr txBox="1"/>
          <p:nvPr/>
        </p:nvSpPr>
        <p:spPr>
          <a:xfrm>
            <a:off x="731520" y="2167128"/>
            <a:ext cx="2743200" cy="54864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1 sonde par site, autonome</a:t>
            </a:r>
          </a:p>
        </p:txBody>
      </p:sp>
      <p:sp>
        <p:nvSpPr>
          <p:cNvPr id="12" name="Rounded Rectangle 11"/>
          <p:cNvSpPr/>
          <p:nvPr/>
        </p:nvSpPr>
        <p:spPr>
          <a:xfrm>
            <a:off x="548640" y="4206240"/>
            <a:ext cx="3063240" cy="1188720"/>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31520" y="4343400"/>
            <a:ext cx="2743200" cy="45720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Labs · hors-prod · préprod</a:t>
            </a:r>
          </a:p>
        </p:txBody>
      </p:sp>
      <p:sp>
        <p:nvSpPr>
          <p:cNvPr id="14" name="TextBox 13"/>
          <p:cNvSpPr txBox="1"/>
          <p:nvPr/>
        </p:nvSpPr>
        <p:spPr>
          <a:xfrm>
            <a:off x="731520" y="4773168"/>
            <a:ext cx="2743200" cy="54864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tester une signature, un seuil, une règle</a:t>
            </a:r>
          </a:p>
        </p:txBody>
      </p:sp>
      <p:sp>
        <p:nvSpPr>
          <p:cNvPr id="15" name="Rounded Rectangle 14"/>
          <p:cNvSpPr/>
          <p:nvPr/>
        </p:nvSpPr>
        <p:spPr>
          <a:xfrm>
            <a:off x="8595360" y="1600200"/>
            <a:ext cx="3063240" cy="1188720"/>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778240" y="1737360"/>
            <a:ext cx="2743200" cy="45720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Filiales · sites distants</a:t>
            </a:r>
          </a:p>
        </p:txBody>
      </p:sp>
      <p:sp>
        <p:nvSpPr>
          <p:cNvPr id="17" name="TextBox 16"/>
          <p:cNvSpPr txBox="1"/>
          <p:nvPr/>
        </p:nvSpPr>
        <p:spPr>
          <a:xfrm>
            <a:off x="8778240" y="2167128"/>
            <a:ext cx="2743200" cy="54864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visibilité locale, rien ne transite</a:t>
            </a:r>
          </a:p>
        </p:txBody>
      </p:sp>
      <p:sp>
        <p:nvSpPr>
          <p:cNvPr id="18" name="Rounded Rectangle 17"/>
          <p:cNvSpPr/>
          <p:nvPr/>
        </p:nvSpPr>
        <p:spPr>
          <a:xfrm>
            <a:off x="8595360" y="4206240"/>
            <a:ext cx="3063240" cy="1188720"/>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78240" y="4343400"/>
            <a:ext cx="2743200" cy="45720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Qualification &amp; démonstration</a:t>
            </a:r>
          </a:p>
        </p:txBody>
      </p:sp>
      <p:sp>
        <p:nvSpPr>
          <p:cNvPr id="20" name="TextBox 19"/>
          <p:cNvSpPr txBox="1"/>
          <p:nvPr/>
        </p:nvSpPr>
        <p:spPr>
          <a:xfrm>
            <a:off x="8778240" y="4773168"/>
            <a:ext cx="2743200" cy="54864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dégrossir un besoin avant un PoC éditeur</a:t>
            </a:r>
          </a:p>
        </p:txBody>
      </p:sp>
      <p:cxnSp>
        <p:nvCxnSpPr>
          <p:cNvPr id="21" name="Connector 20"/>
          <p:cNvCxnSpPr/>
          <p:nvPr/>
        </p:nvCxnSpPr>
        <p:spPr>
          <a:xfrm>
            <a:off x="3611880" y="2194560"/>
            <a:ext cx="502920" cy="822960"/>
          </a:xfrm>
          <a:prstGeom prst="line">
            <a:avLst/>
          </a:prstGeom>
          <a:ln w="19050">
            <a:solidFill>
              <a:srgbClr val="0EA5C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V="1">
            <a:off x="3611880" y="3017520"/>
            <a:ext cx="502920" cy="1143000"/>
          </a:xfrm>
          <a:prstGeom prst="line">
            <a:avLst/>
          </a:prstGeom>
          <a:ln w="19050">
            <a:solidFill>
              <a:srgbClr val="0EA5C0"/>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8046720" y="2194560"/>
            <a:ext cx="548640" cy="822960"/>
          </a:xfrm>
          <a:prstGeom prst="line">
            <a:avLst/>
          </a:prstGeom>
          <a:ln w="19050">
            <a:solidFill>
              <a:srgbClr val="0EA5C0"/>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8046720" y="3017520"/>
            <a:ext cx="548640" cy="1143000"/>
          </a:xfrm>
          <a:prstGeom prst="line">
            <a:avLst/>
          </a:prstGeom>
          <a:ln w="19050">
            <a:solidFill>
              <a:srgbClr val="0EA5C0"/>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4114800" y="4069080"/>
            <a:ext cx="3931920" cy="731520"/>
          </a:xfrm>
          <a:prstGeom prst="rect">
            <a:avLst/>
          </a:prstGeom>
          <a:noFill/>
        </p:spPr>
        <p:txBody>
          <a:bodyPr wrap="square" lIns="45720" rIns="45720" tIns="27432" bIns="27432" anchor="t">
            <a:spAutoFit/>
          </a:bodyPr>
          <a:lstStyle/>
          <a:p>
            <a:pPr algn="ctr">
              <a:lnSpc>
                <a:spcPct val="110000"/>
              </a:lnSpc>
              <a:spcAft>
                <a:spcPts val="400"/>
              </a:spcAft>
            </a:pPr>
            <a:r>
              <a:rPr sz="1200" b="1" i="0">
                <a:solidFill>
                  <a:srgbClr val="111B2E"/>
                </a:solidFill>
                <a:latin typeface="Calibri"/>
              </a:rPr>
              <a:t>Même vocabulaire : </a:t>
            </a:r>
            <a:r>
              <a:rPr sz="1200" b="0" i="0">
                <a:solidFill>
                  <a:srgbClr val="111B2E"/>
                </a:solidFill>
                <a:latin typeface="Calibri"/>
              </a:rPr>
              <a:t>ART · santé TCP · SLA · NetFlow · SNMP</a:t>
            </a:r>
          </a:p>
        </p:txBody>
      </p:sp>
      <p:sp>
        <p:nvSpPr>
          <p:cNvPr id="26" name="Rounded Rectangle 25"/>
          <p:cNvSpPr/>
          <p:nvPr/>
        </p:nvSpPr>
        <p:spPr>
          <a:xfrm>
            <a:off x="548640" y="5577840"/>
            <a:ext cx="11091672" cy="685800"/>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77240" y="5687568"/>
            <a:ext cx="10698480" cy="502920"/>
          </a:xfrm>
          <a:prstGeom prst="rect">
            <a:avLst/>
          </a:prstGeom>
          <a:noFill/>
        </p:spPr>
        <p:txBody>
          <a:bodyPr wrap="square" lIns="45720" rIns="45720" tIns="27432" bIns="27432" anchor="t">
            <a:spAutoFit/>
          </a:bodyPr>
          <a:lstStyle/>
          <a:p>
            <a:pPr algn="l">
              <a:lnSpc>
                <a:spcPct val="110000"/>
              </a:lnSpc>
              <a:spcAft>
                <a:spcPts val="400"/>
              </a:spcAft>
            </a:pPr>
            <a:r>
              <a:rPr sz="1200" b="1" i="0">
                <a:solidFill>
                  <a:srgbClr val="111B2E"/>
                </a:solidFill>
                <a:latin typeface="Calibri"/>
              </a:rPr>
              <a:t>Chaque sonde est autonome : </a:t>
            </a:r>
            <a:r>
              <a:rPr sz="1200" b="0" i="0">
                <a:solidFill>
                  <a:srgbClr val="111B2E"/>
                </a:solidFill>
                <a:latin typeface="Calibri"/>
              </a:rPr>
              <a:t>stockage, analyse et restitution locaux — pas de collecteur central, pas de flux vers l'extérieur. Une consolidation multi-sites est possible (Elasticsearch cross-cluster), pas obligatoire.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5</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Architecture d'une sonde</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Un pipeline capture → analyse → stockage → restitution, entièrement conteneurisé</a:t>
            </a:r>
          </a:p>
        </p:txBody>
      </p:sp>
      <p:sp>
        <p:nvSpPr>
          <p:cNvPr id="6" name="Rounded Rectangle 5"/>
          <p:cNvSpPr/>
          <p:nvPr/>
        </p:nvSpPr>
        <p:spPr>
          <a:xfrm>
            <a:off x="548640" y="1645920"/>
            <a:ext cx="2651760" cy="3246120"/>
          </a:xfrm>
          <a:prstGeom prst="roundRect">
            <a:avLst>
              <a:gd name="adj" fmla="val 6000"/>
            </a:avLst>
          </a:prstGeom>
          <a:solidFill>
            <a:srgbClr val="14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2286000" cy="457200"/>
          </a:xfrm>
          <a:prstGeom prst="rect">
            <a:avLst/>
          </a:prstGeom>
          <a:noFill/>
        </p:spPr>
        <p:txBody>
          <a:bodyPr wrap="square" lIns="45720" rIns="45720" tIns="27432" bIns="27432" anchor="t">
            <a:spAutoFit/>
          </a:bodyPr>
          <a:lstStyle/>
          <a:p>
            <a:pPr algn="l">
              <a:lnSpc>
                <a:spcPct val="110000"/>
              </a:lnSpc>
              <a:spcAft>
                <a:spcPts val="400"/>
              </a:spcAft>
            </a:pPr>
            <a:r>
              <a:rPr sz="1700" b="1" i="0">
                <a:solidFill>
                  <a:srgbClr val="FFFFFF"/>
                </a:solidFill>
                <a:latin typeface="Calibri"/>
              </a:rPr>
              <a:t>Entrées</a:t>
            </a:r>
          </a:p>
        </p:txBody>
      </p:sp>
      <p:sp>
        <p:nvSpPr>
          <p:cNvPr id="8" name="TextBox 7"/>
          <p:cNvSpPr txBox="1"/>
          <p:nvPr/>
        </p:nvSpPr>
        <p:spPr>
          <a:xfrm>
            <a:off x="685800" y="2286000"/>
            <a:ext cx="2423160" cy="2560320"/>
          </a:xfrm>
          <a:prstGeom prst="rect">
            <a:avLst/>
          </a:prstGeom>
          <a:noFill/>
        </p:spPr>
        <p:txBody>
          <a:bodyPr wrap="square" lIns="45720" rIns="45720" tIns="27432" bIns="27432">
            <a:spAutoFit/>
          </a:bodyPr>
          <a:lstStyle/>
          <a:p>
            <a:pPr>
              <a:lnSpc>
                <a:spcPct val="108000"/>
              </a:lnSpc>
              <a:spcAft>
                <a:spcPts val="700"/>
              </a:spcAft>
            </a:pPr>
            <a:r>
              <a:rPr sz="1250" b="1">
                <a:solidFill>
                  <a:srgbClr val="0EA5C0"/>
                </a:solidFill>
                <a:latin typeface="Calibri"/>
              </a:rPr>
              <a:t>▸ </a:t>
            </a:r>
            <a:r>
              <a:rPr sz="1250" b="0" i="0">
                <a:solidFill>
                  <a:srgbClr val="FFFFFF"/>
                </a:solidFill>
                <a:latin typeface="Calibri"/>
              </a:rPr>
              <a:t>port SPAN / TAP (Zeek, Snort, Suricata, Arkime, ntopng)</a:t>
            </a:r>
          </a:p>
          <a:p>
            <a:pPr>
              <a:lnSpc>
                <a:spcPct val="108000"/>
              </a:lnSpc>
              <a:spcAft>
                <a:spcPts val="700"/>
              </a:spcAft>
            </a:pPr>
            <a:r>
              <a:rPr sz="1250" b="1">
                <a:solidFill>
                  <a:srgbClr val="0EA5C0"/>
                </a:solidFill>
                <a:latin typeface="Calibri"/>
              </a:rPr>
              <a:t>▸ </a:t>
            </a:r>
            <a:r>
              <a:rPr sz="1250" b="0" i="0">
                <a:solidFill>
                  <a:srgbClr val="FFFFFF"/>
                </a:solidFill>
                <a:latin typeface="Calibri"/>
              </a:rPr>
              <a:t>NetFlow v5/v9 · IPFIX · sFlow (UDP 2055/4739/6343)</a:t>
            </a:r>
          </a:p>
          <a:p>
            <a:pPr>
              <a:lnSpc>
                <a:spcPct val="108000"/>
              </a:lnSpc>
              <a:spcAft>
                <a:spcPts val="700"/>
              </a:spcAft>
            </a:pPr>
            <a:r>
              <a:rPr sz="1250" b="1">
                <a:solidFill>
                  <a:srgbClr val="0EA5C0"/>
                </a:solidFill>
                <a:latin typeface="Calibri"/>
              </a:rPr>
              <a:t>▸ </a:t>
            </a:r>
            <a:r>
              <a:rPr sz="1250" b="0" i="0">
                <a:solidFill>
                  <a:srgbClr val="FFFFFF"/>
                </a:solidFill>
                <a:latin typeface="Calibri"/>
              </a:rPr>
              <a:t>SNMP IF-MIB / LLDP-MIB</a:t>
            </a:r>
          </a:p>
          <a:p>
            <a:pPr>
              <a:lnSpc>
                <a:spcPct val="108000"/>
              </a:lnSpc>
              <a:spcAft>
                <a:spcPts val="700"/>
              </a:spcAft>
            </a:pPr>
            <a:r>
              <a:rPr sz="1250" b="1">
                <a:solidFill>
                  <a:srgbClr val="0EA5C0"/>
                </a:solidFill>
                <a:latin typeface="Calibri"/>
              </a:rPr>
              <a:t>▸ </a:t>
            </a:r>
            <a:r>
              <a:rPr sz="1250" b="0" i="0">
                <a:solidFill>
                  <a:srgbClr val="FFFFFF"/>
                </a:solidFill>
                <a:latin typeface="Calibri"/>
              </a:rPr>
              <a:t>sondes actives HTTP/ICMP/TCP/DNS</a:t>
            </a:r>
          </a:p>
        </p:txBody>
      </p:sp>
      <p:sp>
        <p:nvSpPr>
          <p:cNvPr id="9" name="Rounded Rectangle 8"/>
          <p:cNvSpPr/>
          <p:nvPr/>
        </p:nvSpPr>
        <p:spPr>
          <a:xfrm>
            <a:off x="3401568" y="1645920"/>
            <a:ext cx="2651760" cy="324612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84448" y="1783080"/>
            <a:ext cx="2286000" cy="457200"/>
          </a:xfrm>
          <a:prstGeom prst="rect">
            <a:avLst/>
          </a:prstGeom>
          <a:noFill/>
        </p:spPr>
        <p:txBody>
          <a:bodyPr wrap="square" lIns="45720" rIns="45720" tIns="27432" bIns="27432" anchor="t">
            <a:spAutoFit/>
          </a:bodyPr>
          <a:lstStyle/>
          <a:p>
            <a:pPr algn="l">
              <a:lnSpc>
                <a:spcPct val="110000"/>
              </a:lnSpc>
              <a:spcAft>
                <a:spcPts val="400"/>
              </a:spcAft>
            </a:pPr>
            <a:r>
              <a:rPr sz="1700" b="1" i="0">
                <a:solidFill>
                  <a:srgbClr val="111B2E"/>
                </a:solidFill>
                <a:latin typeface="Calibri"/>
              </a:rPr>
              <a:t>Analyse</a:t>
            </a:r>
          </a:p>
        </p:txBody>
      </p:sp>
      <p:sp>
        <p:nvSpPr>
          <p:cNvPr id="11" name="TextBox 10"/>
          <p:cNvSpPr txBox="1"/>
          <p:nvPr/>
        </p:nvSpPr>
        <p:spPr>
          <a:xfrm>
            <a:off x="3538728" y="2286000"/>
            <a:ext cx="2423160" cy="2560320"/>
          </a:xfrm>
          <a:prstGeom prst="rect">
            <a:avLst/>
          </a:prstGeom>
          <a:noFill/>
        </p:spPr>
        <p:txBody>
          <a:bodyPr wrap="square" lIns="45720" rIns="45720" tIns="27432" bIns="27432">
            <a:spAutoFit/>
          </a:bodyPr>
          <a:lstStyle/>
          <a:p>
            <a:pPr>
              <a:lnSpc>
                <a:spcPct val="108000"/>
              </a:lnSpc>
              <a:spcAft>
                <a:spcPts val="700"/>
              </a:spcAft>
            </a:pPr>
            <a:r>
              <a:rPr sz="1250" b="1">
                <a:solidFill>
                  <a:srgbClr val="0EA5C0"/>
                </a:solidFill>
                <a:latin typeface="Calibri"/>
              </a:rPr>
              <a:t>▸ </a:t>
            </a:r>
            <a:r>
              <a:rPr sz="1250" b="0" i="0">
                <a:solidFill>
                  <a:srgbClr val="111B2E"/>
                </a:solidFill>
                <a:latin typeface="Calibri"/>
              </a:rPr>
              <a:t>Zeek 6.2 — conn/dns/http/ssl/x509, JA3/HASSH, intel</a:t>
            </a:r>
          </a:p>
          <a:p>
            <a:pPr>
              <a:lnSpc>
                <a:spcPct val="108000"/>
              </a:lnSpc>
              <a:spcAft>
                <a:spcPts val="700"/>
              </a:spcAft>
            </a:pPr>
            <a:r>
              <a:rPr sz="1250" b="1">
                <a:solidFill>
                  <a:srgbClr val="0EA5C0"/>
                </a:solidFill>
                <a:latin typeface="Calibri"/>
              </a:rPr>
              <a:t>▸ </a:t>
            </a:r>
            <a:r>
              <a:rPr sz="1250" b="0" i="0">
                <a:solidFill>
                  <a:srgbClr val="111B2E"/>
                </a:solidFill>
                <a:latin typeface="Calibri"/>
              </a:rPr>
              <a:t>Snort 3.3.5 + Suricata 7 — signatures, MITRE, Community ID</a:t>
            </a:r>
          </a:p>
          <a:p>
            <a:pPr>
              <a:lnSpc>
                <a:spcPct val="108000"/>
              </a:lnSpc>
              <a:spcAft>
                <a:spcPts val="700"/>
              </a:spcAft>
            </a:pPr>
            <a:r>
              <a:rPr sz="1250" b="1">
                <a:solidFill>
                  <a:srgbClr val="0EA5C0"/>
                </a:solidFill>
                <a:latin typeface="Calibri"/>
              </a:rPr>
              <a:t>▸ </a:t>
            </a:r>
            <a:r>
              <a:rPr sz="1250" b="0" i="0">
                <a:solidFill>
                  <a:srgbClr val="111B2E"/>
                </a:solidFill>
                <a:latin typeface="Calibri"/>
              </a:rPr>
              <a:t>GoFlow2 — flux normalisés JSON</a:t>
            </a:r>
          </a:p>
          <a:p>
            <a:pPr>
              <a:lnSpc>
                <a:spcPct val="108000"/>
              </a:lnSpc>
              <a:spcAft>
                <a:spcPts val="700"/>
              </a:spcAft>
            </a:pPr>
            <a:r>
              <a:rPr sz="1250" b="1">
                <a:solidFill>
                  <a:srgbClr val="0EA5C0"/>
                </a:solidFill>
                <a:latin typeface="Calibri"/>
              </a:rPr>
              <a:t>▸ </a:t>
            </a:r>
            <a:r>
              <a:rPr sz="1250" b="0" i="0">
                <a:solidFill>
                  <a:srgbClr val="111B2E"/>
                </a:solidFill>
                <a:latin typeface="Calibri"/>
              </a:rPr>
              <a:t>beacon-detect (RITA-lite), app-classifier (SNI)</a:t>
            </a:r>
          </a:p>
        </p:txBody>
      </p:sp>
      <p:sp>
        <p:nvSpPr>
          <p:cNvPr id="12" name="Rounded Rectangle 11"/>
          <p:cNvSpPr/>
          <p:nvPr/>
        </p:nvSpPr>
        <p:spPr>
          <a:xfrm>
            <a:off x="6254496" y="1645920"/>
            <a:ext cx="2651760" cy="324612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37376" y="1783080"/>
            <a:ext cx="2286000" cy="457200"/>
          </a:xfrm>
          <a:prstGeom prst="rect">
            <a:avLst/>
          </a:prstGeom>
          <a:noFill/>
        </p:spPr>
        <p:txBody>
          <a:bodyPr wrap="square" lIns="45720" rIns="45720" tIns="27432" bIns="27432" anchor="t">
            <a:spAutoFit/>
          </a:bodyPr>
          <a:lstStyle/>
          <a:p>
            <a:pPr algn="l">
              <a:lnSpc>
                <a:spcPct val="110000"/>
              </a:lnSpc>
              <a:spcAft>
                <a:spcPts val="400"/>
              </a:spcAft>
            </a:pPr>
            <a:r>
              <a:rPr sz="1700" b="1" i="0">
                <a:solidFill>
                  <a:srgbClr val="111B2E"/>
                </a:solidFill>
                <a:latin typeface="Calibri"/>
              </a:rPr>
              <a:t>Stockage</a:t>
            </a:r>
          </a:p>
        </p:txBody>
      </p:sp>
      <p:sp>
        <p:nvSpPr>
          <p:cNvPr id="14" name="TextBox 13"/>
          <p:cNvSpPr txBox="1"/>
          <p:nvPr/>
        </p:nvSpPr>
        <p:spPr>
          <a:xfrm>
            <a:off x="6391656" y="2286000"/>
            <a:ext cx="2423160" cy="2560320"/>
          </a:xfrm>
          <a:prstGeom prst="rect">
            <a:avLst/>
          </a:prstGeom>
          <a:noFill/>
        </p:spPr>
        <p:txBody>
          <a:bodyPr wrap="square" lIns="45720" rIns="45720" tIns="27432" bIns="27432">
            <a:spAutoFit/>
          </a:bodyPr>
          <a:lstStyle/>
          <a:p>
            <a:pPr>
              <a:lnSpc>
                <a:spcPct val="108000"/>
              </a:lnSpc>
              <a:spcAft>
                <a:spcPts val="700"/>
              </a:spcAft>
            </a:pPr>
            <a:r>
              <a:rPr sz="1250" b="1">
                <a:solidFill>
                  <a:srgbClr val="0EA5C0"/>
                </a:solidFill>
                <a:latin typeface="Calibri"/>
              </a:rPr>
              <a:t>▸ </a:t>
            </a:r>
            <a:r>
              <a:rPr sz="1250" b="0" i="0">
                <a:solidFill>
                  <a:srgbClr val="111B2E"/>
                </a:solidFill>
                <a:latin typeface="Calibri"/>
              </a:rPr>
              <a:t>Elasticsearch 8.13 — logs, flux, sessions Arkime (ILM 30 j)</a:t>
            </a:r>
          </a:p>
          <a:p>
            <a:pPr>
              <a:lnSpc>
                <a:spcPct val="108000"/>
              </a:lnSpc>
              <a:spcAft>
                <a:spcPts val="700"/>
              </a:spcAft>
            </a:pPr>
            <a:r>
              <a:rPr sz="1250" b="1">
                <a:solidFill>
                  <a:srgbClr val="0EA5C0"/>
                </a:solidFill>
                <a:latin typeface="Calibri"/>
              </a:rPr>
              <a:t>▸ </a:t>
            </a:r>
            <a:r>
              <a:rPr sz="1250" b="0" i="0">
                <a:solidFill>
                  <a:srgbClr val="111B2E"/>
                </a:solidFill>
                <a:latin typeface="Calibri"/>
              </a:rPr>
              <a:t>Prometheus 2.51 — métriques, SNMP, Blackbox, capacity</a:t>
            </a:r>
          </a:p>
          <a:p>
            <a:pPr>
              <a:lnSpc>
                <a:spcPct val="108000"/>
              </a:lnSpc>
              <a:spcAft>
                <a:spcPts val="700"/>
              </a:spcAft>
            </a:pPr>
            <a:r>
              <a:rPr sz="1250" b="1">
                <a:solidFill>
                  <a:srgbClr val="0EA5C0"/>
                </a:solidFill>
                <a:latin typeface="Calibri"/>
              </a:rPr>
              <a:t>▸ </a:t>
            </a:r>
            <a:r>
              <a:rPr sz="1250" b="0" i="0">
                <a:solidFill>
                  <a:srgbClr val="111B2E"/>
                </a:solidFill>
                <a:latin typeface="Calibri"/>
              </a:rPr>
              <a:t>Filebeat — pipeline unique, GeoIP à l'ingestion</a:t>
            </a:r>
          </a:p>
          <a:p>
            <a:pPr>
              <a:lnSpc>
                <a:spcPct val="108000"/>
              </a:lnSpc>
              <a:spcAft>
                <a:spcPts val="700"/>
              </a:spcAft>
            </a:pPr>
            <a:r>
              <a:rPr sz="1250" b="1">
                <a:solidFill>
                  <a:srgbClr val="0EA5C0"/>
                </a:solidFill>
                <a:latin typeface="Calibri"/>
              </a:rPr>
              <a:t>▸ </a:t>
            </a:r>
            <a:r>
              <a:rPr sz="1250" b="0" i="0">
                <a:solidFill>
                  <a:srgbClr val="111B2E"/>
                </a:solidFill>
                <a:latin typeface="Calibri"/>
              </a:rPr>
              <a:t>NetBox — inventaire / IPAM (source de vérité)</a:t>
            </a:r>
          </a:p>
        </p:txBody>
      </p:sp>
      <p:sp>
        <p:nvSpPr>
          <p:cNvPr id="15" name="Rounded Rectangle 14"/>
          <p:cNvSpPr/>
          <p:nvPr/>
        </p:nvSpPr>
        <p:spPr>
          <a:xfrm>
            <a:off x="9107424" y="1645920"/>
            <a:ext cx="2651760" cy="3246120"/>
          </a:xfrm>
          <a:prstGeom prst="roundRect">
            <a:avLst>
              <a:gd name="adj" fmla="val 6000"/>
            </a:avLst>
          </a:prstGeom>
          <a:solidFill>
            <a:srgbClr val="14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290304" y="1783080"/>
            <a:ext cx="2286000" cy="457200"/>
          </a:xfrm>
          <a:prstGeom prst="rect">
            <a:avLst/>
          </a:prstGeom>
          <a:noFill/>
        </p:spPr>
        <p:txBody>
          <a:bodyPr wrap="square" lIns="45720" rIns="45720" tIns="27432" bIns="27432" anchor="t">
            <a:spAutoFit/>
          </a:bodyPr>
          <a:lstStyle/>
          <a:p>
            <a:pPr algn="l">
              <a:lnSpc>
                <a:spcPct val="110000"/>
              </a:lnSpc>
              <a:spcAft>
                <a:spcPts val="400"/>
              </a:spcAft>
            </a:pPr>
            <a:r>
              <a:rPr sz="1700" b="1" i="0">
                <a:solidFill>
                  <a:srgbClr val="FFFFFF"/>
                </a:solidFill>
                <a:latin typeface="Calibri"/>
              </a:rPr>
              <a:t>Restitution</a:t>
            </a:r>
          </a:p>
        </p:txBody>
      </p:sp>
      <p:sp>
        <p:nvSpPr>
          <p:cNvPr id="17" name="TextBox 16"/>
          <p:cNvSpPr txBox="1"/>
          <p:nvPr/>
        </p:nvSpPr>
        <p:spPr>
          <a:xfrm>
            <a:off x="9244584" y="2286000"/>
            <a:ext cx="2423160" cy="2560320"/>
          </a:xfrm>
          <a:prstGeom prst="rect">
            <a:avLst/>
          </a:prstGeom>
          <a:noFill/>
        </p:spPr>
        <p:txBody>
          <a:bodyPr wrap="square" lIns="45720" rIns="45720" tIns="27432" bIns="27432">
            <a:spAutoFit/>
          </a:bodyPr>
          <a:lstStyle/>
          <a:p>
            <a:pPr>
              <a:lnSpc>
                <a:spcPct val="108000"/>
              </a:lnSpc>
              <a:spcAft>
                <a:spcPts val="700"/>
              </a:spcAft>
            </a:pPr>
            <a:r>
              <a:rPr sz="1250" b="1">
                <a:solidFill>
                  <a:srgbClr val="0EA5C0"/>
                </a:solidFill>
                <a:latin typeface="Calibri"/>
              </a:rPr>
              <a:t>▸ </a:t>
            </a:r>
            <a:r>
              <a:rPr sz="1250" b="0" i="0">
                <a:solidFill>
                  <a:srgbClr val="FFFFFF"/>
                </a:solidFill>
                <a:latin typeface="Calibri"/>
              </a:rPr>
              <a:t>Portail NetWatch — 22 pages, plage temporelle globale</a:t>
            </a:r>
          </a:p>
          <a:p>
            <a:pPr>
              <a:lnSpc>
                <a:spcPct val="108000"/>
              </a:lnSpc>
              <a:spcAft>
                <a:spcPts val="700"/>
              </a:spcAft>
            </a:pPr>
            <a:r>
              <a:rPr sz="1250" b="1">
                <a:solidFill>
                  <a:srgbClr val="0EA5C0"/>
                </a:solidFill>
                <a:latin typeface="Calibri"/>
              </a:rPr>
              <a:t>▸ </a:t>
            </a:r>
            <a:r>
              <a:rPr sz="1250" b="0" i="0">
                <a:solidFill>
                  <a:srgbClr val="FFFFFF"/>
                </a:solidFill>
                <a:latin typeface="Calibri"/>
              </a:rPr>
              <a:t>Grafana — 13 dashboards, alerting → AutoBlock / n8n</a:t>
            </a:r>
          </a:p>
          <a:p>
            <a:pPr>
              <a:lnSpc>
                <a:spcPct val="108000"/>
              </a:lnSpc>
              <a:spcAft>
                <a:spcPts val="700"/>
              </a:spcAft>
            </a:pPr>
            <a:r>
              <a:rPr sz="1250" b="1">
                <a:solidFill>
                  <a:srgbClr val="0EA5C0"/>
                </a:solidFill>
                <a:latin typeface="Calibri"/>
              </a:rPr>
              <a:t>▸ </a:t>
            </a:r>
            <a:r>
              <a:rPr sz="1250" b="0" i="0">
                <a:solidFill>
                  <a:srgbClr val="FFFFFF"/>
                </a:solidFill>
                <a:latin typeface="Calibri"/>
              </a:rPr>
              <a:t>Kibana Discover, Arkime, ntopng depuis le portail</a:t>
            </a:r>
          </a:p>
          <a:p>
            <a:pPr>
              <a:lnSpc>
                <a:spcPct val="108000"/>
              </a:lnSpc>
              <a:spcAft>
                <a:spcPts val="700"/>
              </a:spcAft>
            </a:pPr>
            <a:r>
              <a:rPr sz="1250" b="1">
                <a:solidFill>
                  <a:srgbClr val="0EA5C0"/>
                </a:solidFill>
                <a:latin typeface="Calibri"/>
              </a:rPr>
              <a:t>▸ </a:t>
            </a:r>
            <a:r>
              <a:rPr sz="1250" b="0" i="0">
                <a:solidFill>
                  <a:srgbClr val="FFFFFF"/>
                </a:solidFill>
                <a:latin typeface="Calibri"/>
              </a:rPr>
              <a:t>HTTPS unique (Caddy) + session unifiée</a:t>
            </a:r>
          </a:p>
        </p:txBody>
      </p:sp>
      <p:sp>
        <p:nvSpPr>
          <p:cNvPr id="18" name="Right Arrow 17"/>
          <p:cNvSpPr/>
          <p:nvPr/>
        </p:nvSpPr>
        <p:spPr>
          <a:xfrm>
            <a:off x="3200400" y="3127248"/>
            <a:ext cx="201168" cy="274320"/>
          </a:xfrm>
          <a:prstGeom prst="rightArrow">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ight Arrow 18"/>
          <p:cNvSpPr/>
          <p:nvPr/>
        </p:nvSpPr>
        <p:spPr>
          <a:xfrm>
            <a:off x="6053328" y="3127248"/>
            <a:ext cx="201168" cy="274320"/>
          </a:xfrm>
          <a:prstGeom prst="rightArrow">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ight Arrow 19"/>
          <p:cNvSpPr/>
          <p:nvPr/>
        </p:nvSpPr>
        <p:spPr>
          <a:xfrm>
            <a:off x="8906256" y="3127248"/>
            <a:ext cx="201168" cy="274320"/>
          </a:xfrm>
          <a:prstGeom prst="rightArrow">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48640" y="5166360"/>
            <a:ext cx="11064240" cy="868680"/>
          </a:xfrm>
          <a:prstGeom prst="rect">
            <a:avLst/>
          </a:prstGeom>
          <a:noFill/>
        </p:spPr>
        <p:txBody>
          <a:bodyPr wrap="square" lIns="45720" rIns="45720" tIns="27432" bIns="27432" anchor="t">
            <a:spAutoFit/>
          </a:bodyPr>
          <a:lstStyle/>
          <a:p>
            <a:pPr algn="l">
              <a:lnSpc>
                <a:spcPct val="110000"/>
              </a:lnSpc>
              <a:spcAft>
                <a:spcPts val="400"/>
              </a:spcAft>
            </a:pPr>
            <a:r>
              <a:rPr sz="1200" b="1" i="0">
                <a:solidFill>
                  <a:srgbClr val="111B2E"/>
                </a:solidFill>
                <a:latin typeface="Calibri"/>
              </a:rPr>
              <a:t>Empreinte mesurée (labo, 14/09) : </a:t>
            </a:r>
            <a:r>
              <a:rPr sz="1200" b="0" i="0">
                <a:solidFill>
                  <a:srgbClr val="111B2E"/>
                </a:solidFill>
                <a:latin typeface="Calibri"/>
              </a:rPr>
              <a:t>stack complète ≈ 6 Go RAM hors IA (ES 3 Go avec heap 2 Go, NetBox 1,2 Go, Kibana 0,5 Go, Suricata 0,3–1 Go) ; +4–5 Go quand le modèle IA est chargé. 1 VM 4 vCPU / 16 Go, ou 2 VM Sensors (6 Go, port SPAN) + Data (10 Go). Rétention PCAP Arkime sur volume dédié.</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6</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Flux &amp; performance — ce que voit l'équipe réseau</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Page /flows du portail — données réelles du labo</a:t>
            </a:r>
          </a:p>
        </p:txBody>
      </p:sp>
      <p:pic>
        <p:nvPicPr>
          <p:cNvPr id="6" name="Picture 5" descr="flows.png"/>
          <p:cNvPicPr>
            <a:picLocks noChangeAspect="1"/>
          </p:cNvPicPr>
          <p:nvPr/>
        </p:nvPicPr>
        <p:blipFill>
          <a:blip r:embed="rId2"/>
          <a:stretch>
            <a:fillRect/>
          </a:stretch>
        </p:blipFill>
        <p:spPr>
          <a:xfrm>
            <a:off x="548640" y="1600200"/>
            <a:ext cx="6583680" cy="4114800"/>
          </a:xfrm>
          <a:prstGeom prst="rect">
            <a:avLst/>
          </a:prstGeom>
          <a:ln w="9525">
            <a:solidFill>
              <a:srgbClr val="D5DBE5"/>
            </a:solidFill>
          </a:ln>
        </p:spPr>
      </p:pic>
      <p:sp>
        <p:nvSpPr>
          <p:cNvPr id="7" name="TextBox 6"/>
          <p:cNvSpPr txBox="1"/>
          <p:nvPr/>
        </p:nvSpPr>
        <p:spPr>
          <a:xfrm>
            <a:off x="7406640" y="1600200"/>
            <a:ext cx="4251960" cy="4572000"/>
          </a:xfrm>
          <a:prstGeom prst="rect">
            <a:avLst/>
          </a:prstGeom>
          <a:noFill/>
        </p:spPr>
        <p:txBody>
          <a:bodyPr wrap="square" lIns="45720" rIns="45720" tIns="27432" bIns="27432">
            <a:spAutoFit/>
          </a:bodyPr>
          <a:lstStyle/>
          <a:p>
            <a:pPr>
              <a:lnSpc>
                <a:spcPct val="108000"/>
              </a:lnSpc>
              <a:spcAft>
                <a:spcPts val="700"/>
              </a:spcAft>
            </a:pPr>
            <a:r>
              <a:rPr sz="1250" b="1">
                <a:solidFill>
                  <a:srgbClr val="0EA5C0"/>
                </a:solidFill>
                <a:latin typeface="Calibri"/>
              </a:rPr>
              <a:t>▸ </a:t>
            </a:r>
            <a:r>
              <a:rPr sz="1250" b="1" i="0">
                <a:solidFill>
                  <a:srgbClr val="111B2E"/>
                </a:solidFill>
                <a:latin typeface="Calibri"/>
              </a:rPr>
              <a:t>Top talkers / ports </a:t>
            </a:r>
            <a:r>
              <a:rPr sz="1250" b="0" i="0">
                <a:solidFill>
                  <a:srgbClr val="111B2E"/>
                </a:solidFill>
                <a:latin typeface="Calibri"/>
              </a:rPr>
              <a:t>— NetFlow/IPFIX si vos équipements exportent, sinon repli automatique sur Zeek conn.log</a:t>
            </a:r>
          </a:p>
          <a:p>
            <a:pPr>
              <a:lnSpc>
                <a:spcPct val="108000"/>
              </a:lnSpc>
              <a:spcAft>
                <a:spcPts val="700"/>
              </a:spcAft>
            </a:pPr>
            <a:r>
              <a:rPr sz="1250" b="1">
                <a:solidFill>
                  <a:srgbClr val="0EA5C0"/>
                </a:solidFill>
                <a:latin typeface="Calibri"/>
              </a:rPr>
              <a:t>▸ </a:t>
            </a:r>
            <a:r>
              <a:rPr sz="1250" b="1" i="0">
                <a:solidFill>
                  <a:srgbClr val="111B2E"/>
                </a:solidFill>
                <a:latin typeface="Calibri"/>
              </a:rPr>
              <a:t>ART par service </a:t>
            </a:r>
            <a:r>
              <a:rPr sz="1250" b="0" i="0">
                <a:solidFill>
                  <a:srgbClr val="111B2E"/>
                </a:solidFill>
                <a:latin typeface="Calibri"/>
              </a:rPr>
              <a:t>— p50 / p95 / p99 HTTP, DNS, TLS, seuils colorés (HTTP 200–500 ms, DNS 50–200 ms)</a:t>
            </a:r>
          </a:p>
          <a:p>
            <a:pPr>
              <a:lnSpc>
                <a:spcPct val="108000"/>
              </a:lnSpc>
              <a:spcAft>
                <a:spcPts val="700"/>
              </a:spcAft>
            </a:pPr>
            <a:r>
              <a:rPr sz="1250" b="1">
                <a:solidFill>
                  <a:srgbClr val="0EA5C0"/>
                </a:solidFill>
                <a:latin typeface="Calibri"/>
              </a:rPr>
              <a:t>▸ </a:t>
            </a:r>
            <a:r>
              <a:rPr sz="1250" b="1" i="0">
                <a:solidFill>
                  <a:srgbClr val="111B2E"/>
                </a:solidFill>
                <a:latin typeface="Calibri"/>
              </a:rPr>
              <a:t>Santé TCP </a:t>
            </a:r>
            <a:r>
              <a:rPr sz="1250" b="0" i="0">
                <a:solidFill>
                  <a:srgbClr val="111B2E"/>
                </a:solidFill>
                <a:latin typeface="Calibri"/>
              </a:rPr>
              <a:t>— RTT, retransmissions par IP source, ratio zero-window (congestion côté récepteur)</a:t>
            </a:r>
          </a:p>
          <a:p>
            <a:pPr>
              <a:lnSpc>
                <a:spcPct val="108000"/>
              </a:lnSpc>
              <a:spcAft>
                <a:spcPts val="700"/>
              </a:spcAft>
            </a:pPr>
            <a:r>
              <a:rPr sz="1250" b="1">
                <a:solidFill>
                  <a:srgbClr val="0EA5C0"/>
                </a:solidFill>
                <a:latin typeface="Calibri"/>
              </a:rPr>
              <a:t>▸ </a:t>
            </a:r>
            <a:r>
              <a:rPr sz="1250" b="1" i="0">
                <a:solidFill>
                  <a:srgbClr val="111B2E"/>
                </a:solidFill>
                <a:latin typeface="Calibri"/>
              </a:rPr>
              <a:t>Trafic applicatif </a:t>
            </a:r>
            <a:r>
              <a:rPr sz="1250" b="0" i="0">
                <a:solidFill>
                  <a:srgbClr val="111B2E"/>
                </a:solidFill>
                <a:latin typeface="Calibri"/>
              </a:rPr>
              <a:t>— dictionnaire SNI/domaine → application métier, catégories ; nDPI (ntopng) en complément</a:t>
            </a:r>
          </a:p>
          <a:p>
            <a:pPr>
              <a:lnSpc>
                <a:spcPct val="108000"/>
              </a:lnSpc>
              <a:spcAft>
                <a:spcPts val="700"/>
              </a:spcAft>
            </a:pPr>
            <a:r>
              <a:rPr sz="1250" b="1">
                <a:solidFill>
                  <a:srgbClr val="0EA5C0"/>
                </a:solidFill>
                <a:latin typeface="Calibri"/>
              </a:rPr>
              <a:t>▸ </a:t>
            </a:r>
            <a:r>
              <a:rPr sz="1250" b="1" i="0">
                <a:solidFill>
                  <a:srgbClr val="111B2E"/>
                </a:solidFill>
                <a:latin typeface="Calibri"/>
              </a:rPr>
              <a:t>SNMP </a:t>
            </a:r>
            <a:r>
              <a:rPr sz="1250" b="0" i="0">
                <a:solidFill>
                  <a:srgbClr val="111B2E"/>
                </a:solidFill>
                <a:latin typeface="Calibri"/>
              </a:rPr>
              <a:t>— débit et saturation par interface, capacity planning (jours avant saturation)</a:t>
            </a:r>
          </a:p>
          <a:p>
            <a:pPr>
              <a:lnSpc>
                <a:spcPct val="108000"/>
              </a:lnSpc>
              <a:spcAft>
                <a:spcPts val="700"/>
              </a:spcAft>
            </a:pPr>
            <a:r>
              <a:rPr sz="1250" b="1">
                <a:solidFill>
                  <a:srgbClr val="0EA5C0"/>
                </a:solidFill>
                <a:latin typeface="Calibri"/>
              </a:rPr>
              <a:t>▸ </a:t>
            </a:r>
            <a:r>
              <a:rPr sz="1250" b="1" i="0">
                <a:solidFill>
                  <a:srgbClr val="111B2E"/>
                </a:solidFill>
                <a:latin typeface="Calibri"/>
              </a:rPr>
              <a:t>Plage globale 1 h → 30 j </a:t>
            </a:r>
            <a:r>
              <a:rPr sz="1250" b="0" i="0">
                <a:solidFill>
                  <a:srgbClr val="111B2E"/>
                </a:solidFill>
                <a:latin typeface="Calibri"/>
              </a:rPr>
              <a:t>et filtre par hostgroup sur toutes les pages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7</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D'où viennent les chiffres</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Pas de boîte noire : chaque indicateur a une source et une formule vérifiables</a:t>
            </a:r>
          </a:p>
        </p:txBody>
      </p:sp>
      <p:graphicFrame>
        <p:nvGraphicFramePr>
          <p:cNvPr id="6" name="Table 5"/>
          <p:cNvGraphicFramePr>
            <a:graphicFrameLocks noGrp="1"/>
          </p:cNvGraphicFramePr>
          <p:nvPr/>
        </p:nvGraphicFramePr>
        <p:xfrm>
          <a:off x="548640" y="1600200"/>
          <a:ext cx="11091672" cy="4389120"/>
        </p:xfrm>
        <a:graphic>
          <a:graphicData uri="http://schemas.openxmlformats.org/drawingml/2006/table">
            <a:tbl>
              <a:tblPr firstRow="1" bandRow="1">
                <a:tableStyleId>{5C22544A-7EE6-4342-B048-85BDC9FD1C3A}</a:tableStyleId>
              </a:tblPr>
              <a:tblGrid>
                <a:gridCol w="2331720"/>
                <a:gridCol w="3063240"/>
                <a:gridCol w="3200400"/>
                <a:gridCol w="2496312"/>
              </a:tblGrid>
              <a:tr h="548640">
                <a:tc>
                  <a:txBody>
                    <a:bodyPr wrap="square"/>
                    <a:lstStyle/>
                    <a:p>
                      <a:r>
                        <a:rPr sz="1050" b="1">
                          <a:solidFill>
                            <a:srgbClr val="FFFFFF"/>
                          </a:solidFill>
                          <a:latin typeface="Calibri"/>
                        </a:rPr>
                        <a:t>Indicateur</a:t>
                      </a:r>
                    </a:p>
                  </a:txBody>
                  <a:tcPr marL="73152" marR="73152" marT="27432" marB="27432" anchor="ctr">
                    <a:solidFill>
                      <a:srgbClr val="141F36"/>
                    </a:solidFill>
                  </a:tcPr>
                </a:tc>
                <a:tc>
                  <a:txBody>
                    <a:bodyPr wrap="square"/>
                    <a:lstStyle/>
                    <a:p>
                      <a:r>
                        <a:rPr sz="1050" b="1">
                          <a:solidFill>
                            <a:srgbClr val="FFFFFF"/>
                          </a:solidFill>
                          <a:latin typeface="Calibri"/>
                        </a:rPr>
                        <a:t>Source brute</a:t>
                      </a:r>
                    </a:p>
                  </a:txBody>
                  <a:tcPr marL="73152" marR="73152" marT="27432" marB="27432" anchor="ctr">
                    <a:solidFill>
                      <a:srgbClr val="141F36"/>
                    </a:solidFill>
                  </a:tcPr>
                </a:tc>
                <a:tc>
                  <a:txBody>
                    <a:bodyPr wrap="square"/>
                    <a:lstStyle/>
                    <a:p>
                      <a:r>
                        <a:rPr sz="1050" b="1">
                          <a:solidFill>
                            <a:srgbClr val="FFFFFF"/>
                          </a:solidFill>
                          <a:latin typeface="Calibri"/>
                        </a:rPr>
                        <a:t>Calcul</a:t>
                      </a:r>
                    </a:p>
                  </a:txBody>
                  <a:tcPr marL="73152" marR="73152" marT="27432" marB="27432" anchor="ctr">
                    <a:solidFill>
                      <a:srgbClr val="141F36"/>
                    </a:solidFill>
                  </a:tcPr>
                </a:tc>
                <a:tc>
                  <a:txBody>
                    <a:bodyPr wrap="square"/>
                    <a:lstStyle/>
                    <a:p>
                      <a:r>
                        <a:rPr sz="1050" b="1">
                          <a:solidFill>
                            <a:srgbClr val="FFFFFF"/>
                          </a:solidFill>
                          <a:latin typeface="Calibri"/>
                        </a:rPr>
                        <a:t>Limite connue</a:t>
                      </a:r>
                    </a:p>
                  </a:txBody>
                  <a:tcPr marL="73152" marR="73152" marT="27432" marB="27432" anchor="ctr">
                    <a:solidFill>
                      <a:srgbClr val="141F36"/>
                    </a:solidFill>
                  </a:tcPr>
                </a:tc>
              </a:tr>
              <a:tr h="548640">
                <a:tc>
                  <a:txBody>
                    <a:bodyPr wrap="square"/>
                    <a:lstStyle/>
                    <a:p>
                      <a:r>
                        <a:rPr sz="1050" b="1">
                          <a:solidFill>
                            <a:srgbClr val="111B2E"/>
                          </a:solidFill>
                          <a:latin typeface="Calibri"/>
                        </a:rPr>
                        <a:t>ART (Application Response Time)</a:t>
                      </a:r>
                    </a:p>
                  </a:txBody>
                  <a:tcPr marL="73152" marR="73152" marT="27432" marB="27432" anchor="ctr">
                    <a:solidFill>
                      <a:srgbClr val="FFFFFF"/>
                    </a:solidFill>
                  </a:tcPr>
                </a:tc>
                <a:tc>
                  <a:txBody>
                    <a:bodyPr wrap="square"/>
                    <a:lstStyle/>
                    <a:p>
                      <a:r>
                        <a:rPr sz="1050" b="0">
                          <a:solidFill>
                            <a:srgbClr val="111B2E"/>
                          </a:solidFill>
                          <a:latin typeface="Calibri"/>
                        </a:rPr>
                        <a:t>Zeek http.log / dns.log / ssl.log (ts requête → réponse)</a:t>
                      </a:r>
                    </a:p>
                  </a:txBody>
                  <a:tcPr marL="73152" marR="73152" marT="27432" marB="27432" anchor="ctr">
                    <a:solidFill>
                      <a:srgbClr val="FFFFFF"/>
                    </a:solidFill>
                  </a:tcPr>
                </a:tc>
                <a:tc>
                  <a:txBody>
                    <a:bodyPr wrap="square"/>
                    <a:lstStyle/>
                    <a:p>
                      <a:r>
                        <a:rPr sz="1050" b="0">
                          <a:solidFill>
                            <a:srgbClr val="111B2E"/>
                          </a:solidFill>
                          <a:latin typeface="Calibri"/>
                        </a:rPr>
                        <a:t>percentiles p50/p95/p99 par service (agrégation ES), fenêtre glissante</a:t>
                      </a:r>
                    </a:p>
                  </a:txBody>
                  <a:tcPr marL="73152" marR="73152" marT="27432" marB="27432" anchor="ctr">
                    <a:solidFill>
                      <a:srgbClr val="FFFFFF"/>
                    </a:solidFill>
                  </a:tcPr>
                </a:tc>
                <a:tc>
                  <a:txBody>
                    <a:bodyPr wrap="square"/>
                    <a:lstStyle/>
                    <a:p>
                      <a:r>
                        <a:rPr sz="1050" b="0">
                          <a:solidFill>
                            <a:srgbClr val="111B2E"/>
                          </a:solidFill>
                          <a:latin typeface="Calibri"/>
                        </a:rPr>
                        <a:t>protocoles chiffrés sans SNI : non classés</a:t>
                      </a:r>
                    </a:p>
                  </a:txBody>
                  <a:tcPr marL="73152" marR="73152" marT="27432" marB="27432" anchor="ctr">
                    <a:solidFill>
                      <a:srgbClr val="FFFFFF"/>
                    </a:solidFill>
                  </a:tcPr>
                </a:tc>
              </a:tr>
              <a:tr h="548640">
                <a:tc>
                  <a:txBody>
                    <a:bodyPr wrap="square"/>
                    <a:lstStyle/>
                    <a:p>
                      <a:r>
                        <a:rPr sz="1050" b="1">
                          <a:solidFill>
                            <a:srgbClr val="111B2E"/>
                          </a:solidFill>
                          <a:latin typeface="Calibri"/>
                        </a:rPr>
                        <a:t>RTT réseau</a:t>
                      </a:r>
                    </a:p>
                  </a:txBody>
                  <a:tcPr marL="73152" marR="73152" marT="27432" marB="27432" anchor="ctr">
                    <a:solidFill>
                      <a:srgbClr val="F3F5F8"/>
                    </a:solidFill>
                  </a:tcPr>
                </a:tc>
                <a:tc>
                  <a:txBody>
                    <a:bodyPr wrap="square"/>
                    <a:lstStyle/>
                    <a:p>
                      <a:r>
                        <a:rPr sz="1050" b="0">
                          <a:solidFill>
                            <a:srgbClr val="111B2E"/>
                          </a:solidFill>
                          <a:latin typeface="Calibri"/>
                        </a:rPr>
                        <a:t>handshake TCP dans Zeek conn.log (SYN → SYN/ACK)</a:t>
                      </a:r>
                    </a:p>
                  </a:txBody>
                  <a:tcPr marL="73152" marR="73152" marT="27432" marB="27432" anchor="ctr">
                    <a:solidFill>
                      <a:srgbClr val="F3F5F8"/>
                    </a:solidFill>
                  </a:tcPr>
                </a:tc>
                <a:tc>
                  <a:txBody>
                    <a:bodyPr wrap="square"/>
                    <a:lstStyle/>
                    <a:p>
                      <a:r>
                        <a:rPr sz="1050" b="0">
                          <a:solidFill>
                            <a:srgbClr val="111B2E"/>
                          </a:solidFill>
                          <a:latin typeface="Calibri"/>
                        </a:rPr>
                        <a:t>moyenne / p95 par paire, séparation Network Time vs Server Time</a:t>
                      </a:r>
                    </a:p>
                  </a:txBody>
                  <a:tcPr marL="73152" marR="73152" marT="27432" marB="27432" anchor="ctr">
                    <a:solidFill>
                      <a:srgbClr val="F3F5F8"/>
                    </a:solidFill>
                  </a:tcPr>
                </a:tc>
                <a:tc>
                  <a:txBody>
                    <a:bodyPr wrap="square"/>
                    <a:lstStyle/>
                    <a:p>
                      <a:r>
                        <a:rPr sz="1050" b="0">
                          <a:solidFill>
                            <a:srgbClr val="111B2E"/>
                          </a:solidFill>
                          <a:latin typeface="Calibri"/>
                        </a:rPr>
                        <a:t>estimation côté sonde (position du SPAN)</a:t>
                      </a:r>
                    </a:p>
                  </a:txBody>
                  <a:tcPr marL="73152" marR="73152" marT="27432" marB="27432" anchor="ctr">
                    <a:solidFill>
                      <a:srgbClr val="F3F5F8"/>
                    </a:solidFill>
                  </a:tcPr>
                </a:tc>
              </a:tr>
              <a:tr h="548640">
                <a:tc>
                  <a:txBody>
                    <a:bodyPr wrap="square"/>
                    <a:lstStyle/>
                    <a:p>
                      <a:r>
                        <a:rPr sz="1050" b="1">
                          <a:solidFill>
                            <a:srgbClr val="111B2E"/>
                          </a:solidFill>
                          <a:latin typeface="Calibri"/>
                        </a:rPr>
                        <a:t>Retransmissions · zero-window</a:t>
                      </a:r>
                    </a:p>
                  </a:txBody>
                  <a:tcPr marL="73152" marR="73152" marT="27432" marB="27432" anchor="ctr">
                    <a:solidFill>
                      <a:srgbClr val="FFFFFF"/>
                    </a:solidFill>
                  </a:tcPr>
                </a:tc>
                <a:tc>
                  <a:txBody>
                    <a:bodyPr wrap="square"/>
                    <a:lstStyle/>
                    <a:p>
                      <a:r>
                        <a:rPr sz="1050" b="0">
                          <a:solidFill>
                            <a:srgbClr val="111B2E"/>
                          </a:solidFill>
                          <a:latin typeface="Calibri"/>
                        </a:rPr>
                        <a:t>conn.log champ history (T/t = retrans., W/w = fenêtre nulle)</a:t>
                      </a:r>
                    </a:p>
                  </a:txBody>
                  <a:tcPr marL="73152" marR="73152" marT="27432" marB="27432" anchor="ctr">
                    <a:solidFill>
                      <a:srgbClr val="FFFFFF"/>
                    </a:solidFill>
                  </a:tcPr>
                </a:tc>
                <a:tc>
                  <a:txBody>
                    <a:bodyPr wrap="square"/>
                    <a:lstStyle/>
                    <a:p>
                      <a:r>
                        <a:rPr sz="1050" b="0">
                          <a:solidFill>
                            <a:srgbClr val="111B2E"/>
                          </a:solidFill>
                          <a:latin typeface="Calibri"/>
                        </a:rPr>
                        <a:t>ratio connexions affectées / total, top IP sources</a:t>
                      </a:r>
                    </a:p>
                  </a:txBody>
                  <a:tcPr marL="73152" marR="73152" marT="27432" marB="27432" anchor="ctr">
                    <a:solidFill>
                      <a:srgbClr val="FFFFFF"/>
                    </a:solidFill>
                  </a:tcPr>
                </a:tc>
                <a:tc>
                  <a:txBody>
                    <a:bodyPr wrap="square"/>
                    <a:lstStyle/>
                    <a:p>
                      <a:r>
                        <a:rPr sz="1050" b="0">
                          <a:solidFill>
                            <a:srgbClr val="111B2E"/>
                          </a:solidFill>
                          <a:latin typeface="Calibri"/>
                        </a:rPr>
                        <a:t>occurrence, pas encore durée des épisodes</a:t>
                      </a:r>
                    </a:p>
                  </a:txBody>
                  <a:tcPr marL="73152" marR="73152" marT="27432" marB="27432" anchor="ctr">
                    <a:solidFill>
                      <a:srgbClr val="FFFFFF"/>
                    </a:solidFill>
                  </a:tcPr>
                </a:tc>
              </a:tr>
              <a:tr h="548640">
                <a:tc>
                  <a:txBody>
                    <a:bodyPr wrap="square"/>
                    <a:lstStyle/>
                    <a:p>
                      <a:r>
                        <a:rPr sz="1050" b="1">
                          <a:solidFill>
                            <a:srgbClr val="111B2E"/>
                          </a:solidFill>
                          <a:latin typeface="Calibri"/>
                        </a:rPr>
                        <a:t>SLA passif</a:t>
                      </a:r>
                    </a:p>
                  </a:txBody>
                  <a:tcPr marL="73152" marR="73152" marT="27432" marB="27432" anchor="ctr">
                    <a:solidFill>
                      <a:srgbClr val="F3F5F8"/>
                    </a:solidFill>
                  </a:tcPr>
                </a:tc>
                <a:tc>
                  <a:txBody>
                    <a:bodyPr wrap="square"/>
                    <a:lstStyle/>
                    <a:p>
                      <a:r>
                        <a:rPr sz="1050" b="0">
                          <a:solidFill>
                            <a:srgbClr val="111B2E"/>
                          </a:solidFill>
                          <a:latin typeface="Calibri"/>
                        </a:rPr>
                        <a:t>p95 ART/RTT par heure vs cibles (200 ms HTTP, 50 ms DNS/RTT)</a:t>
                      </a:r>
                    </a:p>
                  </a:txBody>
                  <a:tcPr marL="73152" marR="73152" marT="27432" marB="27432" anchor="ctr">
                    <a:solidFill>
                      <a:srgbClr val="F3F5F8"/>
                    </a:solidFill>
                  </a:tcPr>
                </a:tc>
                <a:tc>
                  <a:txBody>
                    <a:bodyPr wrap="square"/>
                    <a:lstStyle/>
                    <a:p>
                      <a:r>
                        <a:rPr sz="1050" b="0">
                          <a:solidFill>
                            <a:srgbClr val="111B2E"/>
                          </a:solidFill>
                          <a:latin typeface="Calibri"/>
                        </a:rPr>
                        <a:t>% d'heures conformes sur N jours, heures ouvrées vs non</a:t>
                      </a:r>
                    </a:p>
                  </a:txBody>
                  <a:tcPr marL="73152" marR="73152" marT="27432" marB="27432" anchor="ctr">
                    <a:solidFill>
                      <a:srgbClr val="F3F5F8"/>
                    </a:solidFill>
                  </a:tcPr>
                </a:tc>
                <a:tc>
                  <a:txBody>
                    <a:bodyPr wrap="square"/>
                    <a:lstStyle/>
                    <a:p>
                      <a:r>
                        <a:rPr sz="1050" b="0">
                          <a:solidFill>
                            <a:srgbClr val="111B2E"/>
                          </a:solidFill>
                          <a:latin typeface="Calibri"/>
                        </a:rPr>
                        <a:t>besoin de trafic réel sur la fenêtre</a:t>
                      </a:r>
                    </a:p>
                  </a:txBody>
                  <a:tcPr marL="73152" marR="73152" marT="27432" marB="27432" anchor="ctr">
                    <a:solidFill>
                      <a:srgbClr val="F3F5F8"/>
                    </a:solidFill>
                  </a:tcPr>
                </a:tc>
              </a:tr>
              <a:tr h="548640">
                <a:tc>
                  <a:txBody>
                    <a:bodyPr wrap="square"/>
                    <a:lstStyle/>
                    <a:p>
                      <a:r>
                        <a:rPr sz="1050" b="1">
                          <a:solidFill>
                            <a:srgbClr val="111B2E"/>
                          </a:solidFill>
                          <a:latin typeface="Calibri"/>
                        </a:rPr>
                        <a:t>SLA actif</a:t>
                      </a:r>
                    </a:p>
                  </a:txBody>
                  <a:tcPr marL="73152" marR="73152" marT="27432" marB="27432" anchor="ctr">
                    <a:solidFill>
                      <a:srgbClr val="FFFFFF"/>
                    </a:solidFill>
                  </a:tcPr>
                </a:tc>
                <a:tc>
                  <a:txBody>
                    <a:bodyPr wrap="square"/>
                    <a:lstStyle/>
                    <a:p>
                      <a:r>
                        <a:rPr sz="1050" b="0">
                          <a:solidFill>
                            <a:srgbClr val="111B2E"/>
                          </a:solidFill>
                          <a:latin typeface="Calibri"/>
                        </a:rPr>
                        <a:t>Blackbox exporter (HTTP, ICMP, TCP, DNS) via Prometheus</a:t>
                      </a:r>
                    </a:p>
                  </a:txBody>
                  <a:tcPr marL="73152" marR="73152" marT="27432" marB="27432" anchor="ctr">
                    <a:solidFill>
                      <a:srgbClr val="FFFFFF"/>
                    </a:solidFill>
                  </a:tcPr>
                </a:tc>
                <a:tc>
                  <a:txBody>
                    <a:bodyPr wrap="square"/>
                    <a:lstStyle/>
                    <a:p>
                      <a:r>
                        <a:rPr sz="1050" b="0">
                          <a:solidFill>
                            <a:srgbClr val="111B2E"/>
                          </a:solidFill>
                          <a:latin typeface="Calibri"/>
                        </a:rPr>
                        <a:t>probe_success, latence, avg_over_time sur la plage</a:t>
                      </a:r>
                    </a:p>
                  </a:txBody>
                  <a:tcPr marL="73152" marR="73152" marT="27432" marB="27432" anchor="ctr">
                    <a:solidFill>
                      <a:srgbClr val="FFFFFF"/>
                    </a:solidFill>
                  </a:tcPr>
                </a:tc>
                <a:tc>
                  <a:txBody>
                    <a:bodyPr wrap="square"/>
                    <a:lstStyle/>
                    <a:p>
                      <a:r>
                        <a:rPr sz="1050" b="0">
                          <a:solidFill>
                            <a:srgbClr val="111B2E"/>
                          </a:solidFill>
                          <a:latin typeface="Calibri"/>
                        </a:rPr>
                        <a:t>dépend de la position réseau de la sonde</a:t>
                      </a:r>
                    </a:p>
                  </a:txBody>
                  <a:tcPr marL="73152" marR="73152" marT="27432" marB="27432" anchor="ctr">
                    <a:solidFill>
                      <a:srgbClr val="FFFFFF"/>
                    </a:solidFill>
                  </a:tcPr>
                </a:tc>
              </a:tr>
              <a:tr h="548640">
                <a:tc>
                  <a:txBody>
                    <a:bodyPr wrap="square"/>
                    <a:lstStyle/>
                    <a:p>
                      <a:r>
                        <a:rPr sz="1050" b="1">
                          <a:solidFill>
                            <a:srgbClr val="111B2E"/>
                          </a:solidFill>
                          <a:latin typeface="Calibri"/>
                        </a:rPr>
                        <a:t>Capacity planning</a:t>
                      </a:r>
                    </a:p>
                  </a:txBody>
                  <a:tcPr marL="73152" marR="73152" marT="27432" marB="27432" anchor="ctr">
                    <a:solidFill>
                      <a:srgbClr val="F3F5F8"/>
                    </a:solidFill>
                  </a:tcPr>
                </a:tc>
                <a:tc>
                  <a:txBody>
                    <a:bodyPr wrap="square"/>
                    <a:lstStyle/>
                    <a:p>
                      <a:r>
                        <a:rPr sz="1050" b="0">
                          <a:solidFill>
                            <a:srgbClr val="111B2E"/>
                          </a:solidFill>
                          <a:latin typeface="Calibri"/>
                        </a:rPr>
                        <a:t>SNMP IF-MIB ifHCInOctets / ifHCOutOctets</a:t>
                      </a:r>
                    </a:p>
                  </a:txBody>
                  <a:tcPr marL="73152" marR="73152" marT="27432" marB="27432" anchor="ctr">
                    <a:solidFill>
                      <a:srgbClr val="F3F5F8"/>
                    </a:solidFill>
                  </a:tcPr>
                </a:tc>
                <a:tc>
                  <a:txBody>
                    <a:bodyPr wrap="square"/>
                    <a:lstStyle/>
                    <a:p>
                      <a:r>
                        <a:rPr sz="1050" b="0">
                          <a:solidFill>
                            <a:srgbClr val="111B2E"/>
                          </a:solidFill>
                          <a:latin typeface="Calibri"/>
                        </a:rPr>
                        <a:t>predict_linear Prometheus → jours avant saturation</a:t>
                      </a:r>
                    </a:p>
                  </a:txBody>
                  <a:tcPr marL="73152" marR="73152" marT="27432" marB="27432" anchor="ctr">
                    <a:solidFill>
                      <a:srgbClr val="F3F5F8"/>
                    </a:solidFill>
                  </a:tcPr>
                </a:tc>
                <a:tc>
                  <a:txBody>
                    <a:bodyPr wrap="square"/>
                    <a:lstStyle/>
                    <a:p>
                      <a:r>
                        <a:rPr sz="1050" b="0">
                          <a:solidFill>
                            <a:srgbClr val="111B2E"/>
                          </a:solidFill>
                          <a:latin typeface="Calibri"/>
                        </a:rPr>
                        <a:t>linéaire, pas de saisonnalité</a:t>
                      </a:r>
                    </a:p>
                  </a:txBody>
                  <a:tcPr marL="73152" marR="73152" marT="27432" marB="27432" anchor="ctr">
                    <a:solidFill>
                      <a:srgbClr val="F3F5F8"/>
                    </a:solidFill>
                  </a:tcPr>
                </a:tc>
              </a:tr>
              <a:tr h="548640">
                <a:tc>
                  <a:txBody>
                    <a:bodyPr wrap="square"/>
                    <a:lstStyle/>
                    <a:p>
                      <a:r>
                        <a:rPr sz="1050" b="1">
                          <a:solidFill>
                            <a:srgbClr val="111B2E"/>
                          </a:solidFill>
                          <a:latin typeface="Calibri"/>
                        </a:rPr>
                        <a:t>Application</a:t>
                      </a:r>
                    </a:p>
                  </a:txBody>
                  <a:tcPr marL="73152" marR="73152" marT="27432" marB="27432" anchor="ctr">
                    <a:solidFill>
                      <a:srgbClr val="FFFFFF"/>
                    </a:solidFill>
                  </a:tcPr>
                </a:tc>
                <a:tc>
                  <a:txBody>
                    <a:bodyPr wrap="square"/>
                    <a:lstStyle/>
                    <a:p>
                      <a:r>
                        <a:rPr sz="1050" b="0">
                          <a:solidFill>
                            <a:srgbClr val="111B2E"/>
                          </a:solidFill>
                          <a:latin typeface="Calibri"/>
                        </a:rPr>
                        <a:t>SNI TLS + DNS (Zeek) + table ports</a:t>
                      </a:r>
                    </a:p>
                  </a:txBody>
                  <a:tcPr marL="73152" marR="73152" marT="27432" marB="27432" anchor="ctr">
                    <a:solidFill>
                      <a:srgbClr val="FFFFFF"/>
                    </a:solidFill>
                  </a:tcPr>
                </a:tc>
                <a:tc>
                  <a:txBody>
                    <a:bodyPr wrap="square"/>
                    <a:lstStyle/>
                    <a:p>
                      <a:r>
                        <a:rPr sz="1050" b="0">
                          <a:solidFill>
                            <a:srgbClr val="111B2E"/>
                          </a:solidFill>
                          <a:latin typeface="Calibri"/>
                        </a:rPr>
                        <a:t>dictionnaire domaine → application (425 ports, SaaS majeurs)</a:t>
                      </a:r>
                    </a:p>
                  </a:txBody>
                  <a:tcPr marL="73152" marR="73152" marT="27432" marB="27432" anchor="ctr">
                    <a:solidFill>
                      <a:srgbClr val="FFFFFF"/>
                    </a:solidFill>
                  </a:tcPr>
                </a:tc>
                <a:tc>
                  <a:txBody>
                    <a:bodyPr wrap="square"/>
                    <a:lstStyle/>
                    <a:p>
                      <a:r>
                        <a:rPr sz="1050" b="0">
                          <a:solidFill>
                            <a:srgbClr val="111B2E"/>
                          </a:solidFill>
                          <a:latin typeface="Calibri"/>
                        </a:rPr>
                        <a:t>70–80 % des cas ; pas de DPI propriétaire</a:t>
                      </a:r>
                    </a:p>
                  </a:txBody>
                  <a:tcPr marL="73152" marR="73152" marT="27432" marB="27432" anchor="ctr">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8</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Passif + actif</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Le passif voit le trafic qui existe ; l'actif vérifie que le service répond, même quand personne ne l'utilise</a:t>
            </a:r>
          </a:p>
        </p:txBody>
      </p:sp>
      <p:pic>
        <p:nvPicPr>
          <p:cNvPr id="6" name="Picture 5" descr="sla.png"/>
          <p:cNvPicPr>
            <a:picLocks noChangeAspect="1"/>
          </p:cNvPicPr>
          <p:nvPr/>
        </p:nvPicPr>
        <p:blipFill>
          <a:blip r:embed="rId2"/>
          <a:stretch>
            <a:fillRect/>
          </a:stretch>
        </p:blipFill>
        <p:spPr>
          <a:xfrm>
            <a:off x="548640" y="1600200"/>
            <a:ext cx="6583680" cy="2185339"/>
          </a:xfrm>
          <a:prstGeom prst="rect">
            <a:avLst/>
          </a:prstGeom>
          <a:ln w="9525">
            <a:solidFill>
              <a:srgbClr val="D5DBE5"/>
            </a:solidFill>
          </a:ln>
        </p:spPr>
      </p:pic>
      <p:sp>
        <p:nvSpPr>
          <p:cNvPr id="7" name="Rounded Rectangle 6"/>
          <p:cNvSpPr/>
          <p:nvPr/>
        </p:nvSpPr>
        <p:spPr>
          <a:xfrm>
            <a:off x="548640" y="3931920"/>
            <a:ext cx="3200400" cy="219456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4096511"/>
            <a:ext cx="2788920"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SLA passif</a:t>
            </a:r>
          </a:p>
        </p:txBody>
      </p:sp>
      <p:sp>
        <p:nvSpPr>
          <p:cNvPr id="9" name="TextBox 8"/>
          <p:cNvSpPr txBox="1"/>
          <p:nvPr/>
        </p:nvSpPr>
        <p:spPr>
          <a:xfrm>
            <a:off x="731520" y="4590288"/>
            <a:ext cx="2834640" cy="1417319"/>
          </a:xfrm>
          <a:prstGeom prst="rect">
            <a:avLst/>
          </a:prstGeom>
          <a:noFill/>
        </p:spPr>
        <p:txBody>
          <a:bodyPr wrap="square" lIns="45720" rIns="45720" tIns="27432" bIns="27432">
            <a:spAutoFit/>
          </a:bodyPr>
          <a:lstStyle/>
          <a:p>
            <a:pPr>
              <a:lnSpc>
                <a:spcPct val="108000"/>
              </a:lnSpc>
              <a:spcAft>
                <a:spcPts val="400"/>
              </a:spcAft>
            </a:pPr>
            <a:r>
              <a:rPr sz="1200" b="1">
                <a:solidFill>
                  <a:srgbClr val="0EA5C0"/>
                </a:solidFill>
                <a:latin typeface="Calibri"/>
              </a:rPr>
              <a:t>▸ </a:t>
            </a:r>
            <a:r>
              <a:rPr sz="1200" b="0" i="0">
                <a:solidFill>
                  <a:srgbClr val="111B2E"/>
                </a:solidFill>
                <a:latin typeface="Calibri"/>
              </a:rPr>
              <a:t>conformité p95 HTTP / DNS / RTT sur N jours</a:t>
            </a:r>
          </a:p>
          <a:p>
            <a:pPr>
              <a:lnSpc>
                <a:spcPct val="108000"/>
              </a:lnSpc>
              <a:spcAft>
                <a:spcPts val="400"/>
              </a:spcAft>
            </a:pPr>
            <a:r>
              <a:rPr sz="1200" b="1">
                <a:solidFill>
                  <a:srgbClr val="0EA5C0"/>
                </a:solidFill>
                <a:latin typeface="Calibri"/>
              </a:rPr>
              <a:t>▸ </a:t>
            </a:r>
            <a:r>
              <a:rPr sz="1200" b="0" i="0">
                <a:solidFill>
                  <a:srgbClr val="111B2E"/>
                </a:solidFill>
                <a:latin typeface="Calibri"/>
              </a:rPr>
              <a:t>heures ouvrées vs nuits &amp; week-ends</a:t>
            </a:r>
          </a:p>
          <a:p>
            <a:pPr>
              <a:lnSpc>
                <a:spcPct val="108000"/>
              </a:lnSpc>
              <a:spcAft>
                <a:spcPts val="400"/>
              </a:spcAft>
            </a:pPr>
            <a:r>
              <a:rPr sz="1200" b="1">
                <a:solidFill>
                  <a:srgbClr val="0EA5C0"/>
                </a:solidFill>
                <a:latin typeface="Calibri"/>
              </a:rPr>
              <a:t>▸ </a:t>
            </a:r>
            <a:r>
              <a:rPr sz="1200" b="0" i="0">
                <a:solidFill>
                  <a:srgbClr val="111B2E"/>
                </a:solidFill>
                <a:latin typeface="Calibri"/>
              </a:rPr>
              <a:t>timeline de compliance par jour</a:t>
            </a:r>
          </a:p>
        </p:txBody>
      </p:sp>
      <p:sp>
        <p:nvSpPr>
          <p:cNvPr id="10" name="Rounded Rectangle 9"/>
          <p:cNvSpPr/>
          <p:nvPr/>
        </p:nvSpPr>
        <p:spPr>
          <a:xfrm>
            <a:off x="3931920" y="3931920"/>
            <a:ext cx="3200400" cy="219456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60520" y="4096511"/>
            <a:ext cx="2788920"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SLA actif — Blackbox</a:t>
            </a:r>
          </a:p>
        </p:txBody>
      </p:sp>
      <p:sp>
        <p:nvSpPr>
          <p:cNvPr id="12" name="TextBox 11"/>
          <p:cNvSpPr txBox="1"/>
          <p:nvPr/>
        </p:nvSpPr>
        <p:spPr>
          <a:xfrm>
            <a:off x="4114800" y="4590288"/>
            <a:ext cx="2834640" cy="1417319"/>
          </a:xfrm>
          <a:prstGeom prst="rect">
            <a:avLst/>
          </a:prstGeom>
          <a:noFill/>
        </p:spPr>
        <p:txBody>
          <a:bodyPr wrap="square" lIns="45720" rIns="45720" tIns="27432" bIns="27432">
            <a:spAutoFit/>
          </a:bodyPr>
          <a:lstStyle/>
          <a:p>
            <a:pPr>
              <a:lnSpc>
                <a:spcPct val="108000"/>
              </a:lnSpc>
              <a:spcAft>
                <a:spcPts val="400"/>
              </a:spcAft>
            </a:pPr>
            <a:r>
              <a:rPr sz="1200" b="1">
                <a:solidFill>
                  <a:srgbClr val="0EA5C0"/>
                </a:solidFill>
                <a:latin typeface="Calibri"/>
              </a:rPr>
              <a:t>▸ </a:t>
            </a:r>
            <a:r>
              <a:rPr sz="1200" b="0" i="0">
                <a:solidFill>
                  <a:srgbClr val="111B2E"/>
                </a:solidFill>
                <a:latin typeface="Calibri"/>
              </a:rPr>
              <a:t>HTTP 2xx, ICMP, TCP connect, DNS A</a:t>
            </a:r>
          </a:p>
          <a:p>
            <a:pPr>
              <a:lnSpc>
                <a:spcPct val="108000"/>
              </a:lnSpc>
              <a:spcAft>
                <a:spcPts val="400"/>
              </a:spcAft>
            </a:pPr>
            <a:r>
              <a:rPr sz="1200" b="1">
                <a:solidFill>
                  <a:srgbClr val="0EA5C0"/>
                </a:solidFill>
                <a:latin typeface="Calibri"/>
              </a:rPr>
              <a:t>▸ </a:t>
            </a:r>
            <a:r>
              <a:rPr sz="1200" b="0" i="0">
                <a:solidFill>
                  <a:srgbClr val="111B2E"/>
                </a:solidFill>
                <a:latin typeface="Calibri"/>
              </a:rPr>
              <a:t>disponibilité + latence depuis la sonde</a:t>
            </a:r>
          </a:p>
          <a:p>
            <a:pPr>
              <a:lnSpc>
                <a:spcPct val="108000"/>
              </a:lnSpc>
              <a:spcAft>
                <a:spcPts val="400"/>
              </a:spcAft>
            </a:pPr>
            <a:r>
              <a:rPr sz="1200" b="1">
                <a:solidFill>
                  <a:srgbClr val="0EA5C0"/>
                </a:solidFill>
                <a:latin typeface="Calibri"/>
              </a:rPr>
              <a:t>▸ </a:t>
            </a:r>
            <a:r>
              <a:rPr sz="1200" b="0" i="0">
                <a:solidFill>
                  <a:srgbClr val="111B2E"/>
                </a:solidFill>
                <a:latin typeface="Calibri"/>
              </a:rPr>
              <a:t>cibles : un fichier YAML rechargé à chaud</a:t>
            </a:r>
          </a:p>
        </p:txBody>
      </p:sp>
      <p:sp>
        <p:nvSpPr>
          <p:cNvPr id="13" name="TextBox 12"/>
          <p:cNvSpPr txBox="1"/>
          <p:nvPr/>
        </p:nvSpPr>
        <p:spPr>
          <a:xfrm>
            <a:off x="7406640" y="1600200"/>
            <a:ext cx="4251960" cy="4572000"/>
          </a:xfrm>
          <a:prstGeom prst="rect">
            <a:avLst/>
          </a:prstGeom>
          <a:noFill/>
        </p:spPr>
        <p:txBody>
          <a:bodyPr wrap="square" lIns="45720" rIns="45720" tIns="27432" bIns="27432">
            <a:spAutoFit/>
          </a:bodyPr>
          <a:lstStyle/>
          <a:p>
            <a:pPr>
              <a:lnSpc>
                <a:spcPct val="108000"/>
              </a:lnSpc>
              <a:spcAft>
                <a:spcPts val="800"/>
              </a:spcAft>
            </a:pPr>
            <a:r>
              <a:rPr sz="1250" b="1">
                <a:solidFill>
                  <a:srgbClr val="0EA5C0"/>
                </a:solidFill>
                <a:latin typeface="Calibri"/>
              </a:rPr>
              <a:t>▸ </a:t>
            </a:r>
            <a:r>
              <a:rPr sz="1250" b="1" i="0">
                <a:solidFill>
                  <a:srgbClr val="111B2E"/>
                </a:solidFill>
                <a:latin typeface="Calibri"/>
              </a:rPr>
              <a:t>Pourquoi les deux : </a:t>
            </a:r>
            <a:r>
              <a:rPr sz="1250" b="0" i="0">
                <a:solidFill>
                  <a:srgbClr val="111B2E"/>
                </a:solidFill>
                <a:latin typeface="Calibri"/>
              </a:rPr>
              <a:t>une passerelle qui ne répond plus à 3 h du matin ne génère aucun trafic — le passif ne la verra pas, l'actif oui.</a:t>
            </a:r>
          </a:p>
          <a:p>
            <a:pPr>
              <a:lnSpc>
                <a:spcPct val="108000"/>
              </a:lnSpc>
              <a:spcAft>
                <a:spcPts val="800"/>
              </a:spcAft>
            </a:pPr>
            <a:r>
              <a:rPr sz="1250" b="1">
                <a:solidFill>
                  <a:srgbClr val="0EA5C0"/>
                </a:solidFill>
                <a:latin typeface="Calibri"/>
              </a:rPr>
              <a:t>▸ </a:t>
            </a:r>
            <a:r>
              <a:rPr sz="1250" b="1" i="0">
                <a:solidFill>
                  <a:srgbClr val="111B2E"/>
                </a:solidFill>
                <a:latin typeface="Calibri"/>
              </a:rPr>
              <a:t>Triage de la home : </a:t>
            </a:r>
            <a:r>
              <a:rPr sz="1250" b="0" i="0">
                <a:solidFill>
                  <a:srgbClr val="111B2E"/>
                </a:solidFill>
                <a:latin typeface="Calibri"/>
              </a:rPr>
              <a:t>une sonde KO remonte en critique, une disponibilité &lt; 99 % en avertissement, avec le lien vers la preuve.</a:t>
            </a:r>
          </a:p>
          <a:p>
            <a:pPr>
              <a:lnSpc>
                <a:spcPct val="108000"/>
              </a:lnSpc>
              <a:spcAft>
                <a:spcPts val="800"/>
              </a:spcAft>
            </a:pPr>
            <a:r>
              <a:rPr sz="1250" b="1">
                <a:solidFill>
                  <a:srgbClr val="0EA5C0"/>
                </a:solidFill>
                <a:latin typeface="Calibri"/>
              </a:rPr>
              <a:t>▸ </a:t>
            </a:r>
            <a:r>
              <a:rPr sz="1250" b="1" i="0">
                <a:solidFill>
                  <a:srgbClr val="111B2E"/>
                </a:solidFill>
                <a:latin typeface="Calibri"/>
              </a:rPr>
              <a:t>Auto-surveillance : </a:t>
            </a:r>
            <a:r>
              <a:rPr sz="1250" b="0" i="0">
                <a:solidFill>
                  <a:srgbClr val="111B2E"/>
                </a:solidFill>
                <a:latin typeface="Calibri"/>
              </a:rPr>
              <a:t>la sonde se surveille elle-même avec les mêmes sondes (portail, ES, Grafana) — page /status.</a:t>
            </a:r>
          </a:p>
          <a:p>
            <a:pPr>
              <a:lnSpc>
                <a:spcPct val="108000"/>
              </a:lnSpc>
              <a:spcAft>
                <a:spcPts val="800"/>
              </a:spcAft>
            </a:pPr>
            <a:r>
              <a:rPr sz="1250" b="1">
                <a:solidFill>
                  <a:srgbClr val="0EA5C0"/>
                </a:solidFill>
                <a:latin typeface="Calibri"/>
              </a:rPr>
              <a:t>▸ </a:t>
            </a:r>
            <a:r>
              <a:rPr sz="1250" b="1" i="0">
                <a:solidFill>
                  <a:srgbClr val="111B2E"/>
                </a:solidFill>
                <a:latin typeface="Calibri"/>
              </a:rPr>
              <a:t>Intégration : </a:t>
            </a:r>
            <a:r>
              <a:rPr sz="1250" b="0" i="0">
                <a:solidFill>
                  <a:srgbClr val="111B2E"/>
                </a:solidFill>
                <a:latin typeface="Calibri"/>
              </a:rPr>
              <a:t>mêmes séries Prometheus que vos exporters existants ; alerting Grafana → webhook / n8n / ITSM.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9</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Une adresse devient un serveur</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NetBox (IPAM) comme source de vérité : le contexte métier est injecté dans chaque vue</a:t>
            </a:r>
          </a:p>
        </p:txBody>
      </p:sp>
      <p:pic>
        <p:nvPicPr>
          <p:cNvPr id="6" name="Picture 5" descr="ip.png"/>
          <p:cNvPicPr>
            <a:picLocks noChangeAspect="1"/>
          </p:cNvPicPr>
          <p:nvPr/>
        </p:nvPicPr>
        <p:blipFill>
          <a:blip r:embed="rId2"/>
          <a:stretch>
            <a:fillRect/>
          </a:stretch>
        </p:blipFill>
        <p:spPr>
          <a:xfrm>
            <a:off x="548640" y="1600200"/>
            <a:ext cx="6583680" cy="4114800"/>
          </a:xfrm>
          <a:prstGeom prst="rect">
            <a:avLst/>
          </a:prstGeom>
          <a:ln w="9525">
            <a:solidFill>
              <a:srgbClr val="D5DBE5"/>
            </a:solidFill>
          </a:ln>
        </p:spPr>
      </p:pic>
      <p:sp>
        <p:nvSpPr>
          <p:cNvPr id="7" name="TextBox 6"/>
          <p:cNvSpPr txBox="1"/>
          <p:nvPr/>
        </p:nvSpPr>
        <p:spPr>
          <a:xfrm>
            <a:off x="7406640" y="1600200"/>
            <a:ext cx="4251960" cy="4572000"/>
          </a:xfrm>
          <a:prstGeom prst="rect">
            <a:avLst/>
          </a:prstGeom>
          <a:noFill/>
        </p:spPr>
        <p:txBody>
          <a:bodyPr wrap="square" lIns="45720" rIns="45720" tIns="27432" bIns="27432">
            <a:spAutoFit/>
          </a:bodyPr>
          <a:lstStyle/>
          <a:p>
            <a:pPr>
              <a:lnSpc>
                <a:spcPct val="108000"/>
              </a:lnSpc>
              <a:spcAft>
                <a:spcPts val="800"/>
              </a:spcAft>
            </a:pPr>
            <a:r>
              <a:rPr sz="1250" b="1">
                <a:solidFill>
                  <a:srgbClr val="0EA5C0"/>
                </a:solidFill>
                <a:latin typeface="Calibri"/>
              </a:rPr>
              <a:t>▸ </a:t>
            </a:r>
            <a:r>
              <a:rPr sz="1250" b="1" i="0">
                <a:solidFill>
                  <a:srgbClr val="111B2E"/>
                </a:solidFill>
                <a:latin typeface="Calibri"/>
              </a:rPr>
              <a:t>Pivot IP : </a:t>
            </a:r>
            <a:r>
              <a:rPr sz="1250" b="0" i="0">
                <a:solidFill>
                  <a:srgbClr val="111B2E"/>
                </a:solidFill>
                <a:latin typeface="Calibri"/>
              </a:rPr>
              <a:t>device, interface, site, préfixe, VLAN, rôle, tenant — lus dans NetBox via l'API (token v2), cache 2 min.</a:t>
            </a:r>
          </a:p>
          <a:p>
            <a:pPr>
              <a:lnSpc>
                <a:spcPct val="108000"/>
              </a:lnSpc>
              <a:spcAft>
                <a:spcPts val="800"/>
              </a:spcAft>
            </a:pPr>
            <a:r>
              <a:rPr sz="1250" b="1">
                <a:solidFill>
                  <a:srgbClr val="0EA5C0"/>
                </a:solidFill>
                <a:latin typeface="Calibri"/>
              </a:rPr>
              <a:t>▸ </a:t>
            </a:r>
            <a:r>
              <a:rPr sz="1250" b="1" i="0">
                <a:solidFill>
                  <a:srgbClr val="111B2E"/>
                </a:solidFill>
                <a:latin typeface="Calibri"/>
              </a:rPr>
              <a:t>Hostgroups : </a:t>
            </a:r>
            <a:r>
              <a:rPr sz="1250" b="0" i="0">
                <a:solidFill>
                  <a:srgbClr val="111B2E"/>
                </a:solidFill>
                <a:latin typeface="Calibri"/>
              </a:rPr>
              <a:t>import des préfixes IPAM en un clic → un groupe par préfixe → filtre global sur toutes les pages (esprit NetScout).</a:t>
            </a:r>
          </a:p>
          <a:p>
            <a:pPr>
              <a:lnSpc>
                <a:spcPct val="108000"/>
              </a:lnSpc>
              <a:spcAft>
                <a:spcPts val="800"/>
              </a:spcAft>
            </a:pPr>
            <a:r>
              <a:rPr sz="1250" b="1">
                <a:solidFill>
                  <a:srgbClr val="0EA5C0"/>
                </a:solidFill>
                <a:latin typeface="Calibri"/>
              </a:rPr>
              <a:t>▸ </a:t>
            </a:r>
            <a:r>
              <a:rPr sz="1250" b="1" i="0">
                <a:solidFill>
                  <a:srgbClr val="111B2E"/>
                </a:solidFill>
                <a:latin typeface="Calibri"/>
              </a:rPr>
              <a:t>Mêmes widgets </a:t>
            </a:r>
            <a:r>
              <a:rPr sz="1250" b="0" i="0">
                <a:solidFill>
                  <a:srgbClr val="111B2E"/>
                </a:solidFill>
                <a:latin typeface="Calibri"/>
              </a:rPr>
              <a:t>de performance pour un hôte, un groupe ou le site entier : ART, santé TCP, top talkers.</a:t>
            </a:r>
          </a:p>
          <a:p>
            <a:pPr>
              <a:lnSpc>
                <a:spcPct val="108000"/>
              </a:lnSpc>
              <a:spcAft>
                <a:spcPts val="800"/>
              </a:spcAft>
            </a:pPr>
            <a:r>
              <a:rPr sz="1250" b="1">
                <a:solidFill>
                  <a:srgbClr val="0EA5C0"/>
                </a:solidFill>
                <a:latin typeface="Calibri"/>
              </a:rPr>
              <a:t>▸ </a:t>
            </a:r>
            <a:r>
              <a:rPr sz="1250" b="1" i="0">
                <a:solidFill>
                  <a:srgbClr val="111B2E"/>
                </a:solidFill>
                <a:latin typeface="Calibri"/>
              </a:rPr>
              <a:t>Depuis le pivot : </a:t>
            </a:r>
            <a:r>
              <a:rPr sz="1250" b="0" i="0">
                <a:solidFill>
                  <a:srgbClr val="111B2E"/>
                </a:solidFill>
                <a:latin typeface="Calibri"/>
              </a:rPr>
              <a:t>logs Zeek de l'adresse (Kibana, requête KQL préremplie) et sessions capturées (Arkime, filtre ip ==).</a:t>
            </a:r>
          </a:p>
          <a:p>
            <a:pPr>
              <a:lnSpc>
                <a:spcPct val="108000"/>
              </a:lnSpc>
              <a:spcAft>
                <a:spcPts val="800"/>
              </a:spcAft>
            </a:pPr>
            <a:r>
              <a:rPr sz="1250" b="1">
                <a:solidFill>
                  <a:srgbClr val="0EA5C0"/>
                </a:solidFill>
                <a:latin typeface="Calibri"/>
              </a:rPr>
              <a:t>▸ </a:t>
            </a:r>
            <a:r>
              <a:rPr sz="1250" b="1" i="0">
                <a:solidFill>
                  <a:srgbClr val="111B2E"/>
                </a:solidFill>
                <a:latin typeface="Calibri"/>
              </a:rPr>
              <a:t>Si vous avez déjà un IPAM : </a:t>
            </a:r>
            <a:r>
              <a:rPr sz="1250" b="0" i="0">
                <a:solidFill>
                  <a:srgbClr val="111B2E"/>
                </a:solidFill>
                <a:latin typeface="Calibri"/>
              </a:rPr>
              <a:t>l'API NetBox est standard ; un export CSV type NetScout est aussi accepté pour les hostgroups.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10</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Quand il faut la preuve</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Cinq outils complémentaires, une seule console, une seule session</a:t>
            </a:r>
          </a:p>
        </p:txBody>
      </p:sp>
      <p:sp>
        <p:nvSpPr>
          <p:cNvPr id="6" name="Rounded Rectangle 5"/>
          <p:cNvSpPr/>
          <p:nvPr/>
        </p:nvSpPr>
        <p:spPr>
          <a:xfrm>
            <a:off x="548640" y="1645920"/>
            <a:ext cx="2651760" cy="306324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783080"/>
            <a:ext cx="2286000" cy="411480"/>
          </a:xfrm>
          <a:prstGeom prst="rect">
            <a:avLst/>
          </a:prstGeom>
          <a:noFill/>
        </p:spPr>
        <p:txBody>
          <a:bodyPr wrap="square" lIns="45720" rIns="45720" tIns="27432" bIns="27432" anchor="t">
            <a:spAutoFit/>
          </a:bodyPr>
          <a:lstStyle/>
          <a:p>
            <a:pPr algn="l">
              <a:lnSpc>
                <a:spcPct val="110000"/>
              </a:lnSpc>
              <a:spcAft>
                <a:spcPts val="400"/>
              </a:spcAft>
            </a:pPr>
            <a:r>
              <a:rPr sz="1800" b="1" i="0">
                <a:solidFill>
                  <a:srgbClr val="111B2E"/>
                </a:solidFill>
                <a:latin typeface="Calibri"/>
              </a:rPr>
              <a:t>Arkime</a:t>
            </a:r>
          </a:p>
        </p:txBody>
      </p:sp>
      <p:sp>
        <p:nvSpPr>
          <p:cNvPr id="8" name="TextBox 7"/>
          <p:cNvSpPr txBox="1"/>
          <p:nvPr/>
        </p:nvSpPr>
        <p:spPr>
          <a:xfrm>
            <a:off x="731520" y="2176272"/>
            <a:ext cx="2286000" cy="365760"/>
          </a:xfrm>
          <a:prstGeom prst="rect">
            <a:avLst/>
          </a:prstGeom>
          <a:noFill/>
        </p:spPr>
        <p:txBody>
          <a:bodyPr wrap="square" lIns="45720" rIns="45720" tIns="27432" bIns="27432" anchor="t">
            <a:spAutoFit/>
          </a:bodyPr>
          <a:lstStyle/>
          <a:p>
            <a:pPr algn="l">
              <a:lnSpc>
                <a:spcPct val="110000"/>
              </a:lnSpc>
              <a:spcAft>
                <a:spcPts val="400"/>
              </a:spcAft>
            </a:pPr>
            <a:r>
              <a:rPr sz="1200" b="1" i="0">
                <a:solidFill>
                  <a:srgbClr val="0EA5C0"/>
                </a:solidFill>
                <a:latin typeface="Calibri"/>
              </a:rPr>
              <a:t>Full packet capture</a:t>
            </a:r>
          </a:p>
        </p:txBody>
      </p:sp>
      <p:sp>
        <p:nvSpPr>
          <p:cNvPr id="9" name="TextBox 8"/>
          <p:cNvSpPr txBox="1"/>
          <p:nvPr/>
        </p:nvSpPr>
        <p:spPr>
          <a:xfrm>
            <a:off x="685800" y="2606040"/>
            <a:ext cx="2423160" cy="2057400"/>
          </a:xfrm>
          <a:prstGeom prst="rect">
            <a:avLst/>
          </a:prstGeom>
          <a:noFill/>
        </p:spPr>
        <p:txBody>
          <a:bodyPr wrap="square" lIns="45720" rIns="45720" tIns="27432" bIns="27432">
            <a:spAutoFit/>
          </a:bodyPr>
          <a:lstStyle/>
          <a:p>
            <a:pPr>
              <a:lnSpc>
                <a:spcPct val="108000"/>
              </a:lnSpc>
              <a:spcAft>
                <a:spcPts val="600"/>
              </a:spcAft>
            </a:pPr>
            <a:r>
              <a:rPr sz="1200" b="1">
                <a:solidFill>
                  <a:srgbClr val="0EA5C0"/>
                </a:solidFill>
                <a:latin typeface="Calibri"/>
              </a:rPr>
              <a:t>▸ </a:t>
            </a:r>
            <a:r>
              <a:rPr sz="1200" b="0" i="0">
                <a:solidFill>
                  <a:srgbClr val="111B2E"/>
                </a:solidFill>
                <a:latin typeface="Calibri"/>
              </a:rPr>
              <a:t>capture continue sur le port SPAN, sessions indexées dans le même Elasticsearch</a:t>
            </a:r>
          </a:p>
          <a:p>
            <a:pPr>
              <a:lnSpc>
                <a:spcPct val="108000"/>
              </a:lnSpc>
              <a:spcAft>
                <a:spcPts val="600"/>
              </a:spcAft>
            </a:pPr>
            <a:r>
              <a:rPr sz="1200" b="1">
                <a:solidFill>
                  <a:srgbClr val="0EA5C0"/>
                </a:solidFill>
                <a:latin typeface="Calibri"/>
              </a:rPr>
              <a:t>▸ </a:t>
            </a:r>
            <a:r>
              <a:rPr sz="1200" b="0" i="0">
                <a:solidFill>
                  <a:srgbClr val="111B2E"/>
                </a:solidFill>
                <a:latin typeface="Calibri"/>
              </a:rPr>
              <a:t>filtre par IP depuis le pivot, export PCAP d'une session</a:t>
            </a:r>
          </a:p>
          <a:p>
            <a:pPr>
              <a:lnSpc>
                <a:spcPct val="108000"/>
              </a:lnSpc>
              <a:spcAft>
                <a:spcPts val="600"/>
              </a:spcAft>
            </a:pPr>
            <a:r>
              <a:rPr sz="1200" b="1">
                <a:solidFill>
                  <a:srgbClr val="0EA5C0"/>
                </a:solidFill>
                <a:latin typeface="Calibri"/>
              </a:rPr>
              <a:t>▸ </a:t>
            </a:r>
            <a:r>
              <a:rPr sz="1200" b="0" i="0">
                <a:solidFill>
                  <a:srgbClr val="111B2E"/>
                </a:solidFill>
                <a:latin typeface="Calibri"/>
              </a:rPr>
              <a:t>rétention par espace disque (ARKIME_FREE_SPACE_G)</a:t>
            </a:r>
          </a:p>
        </p:txBody>
      </p:sp>
      <p:sp>
        <p:nvSpPr>
          <p:cNvPr id="10" name="Rounded Rectangle 9"/>
          <p:cNvSpPr/>
          <p:nvPr/>
        </p:nvSpPr>
        <p:spPr>
          <a:xfrm>
            <a:off x="3364992" y="1645920"/>
            <a:ext cx="2651760" cy="30632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547872" y="1783080"/>
            <a:ext cx="2286000" cy="411480"/>
          </a:xfrm>
          <a:prstGeom prst="rect">
            <a:avLst/>
          </a:prstGeom>
          <a:noFill/>
        </p:spPr>
        <p:txBody>
          <a:bodyPr wrap="square" lIns="45720" rIns="45720" tIns="27432" bIns="27432" anchor="t">
            <a:spAutoFit/>
          </a:bodyPr>
          <a:lstStyle/>
          <a:p>
            <a:pPr algn="l">
              <a:lnSpc>
                <a:spcPct val="110000"/>
              </a:lnSpc>
              <a:spcAft>
                <a:spcPts val="400"/>
              </a:spcAft>
            </a:pPr>
            <a:r>
              <a:rPr sz="1800" b="1" i="0">
                <a:solidFill>
                  <a:srgbClr val="111B2E"/>
                </a:solidFill>
                <a:latin typeface="Calibri"/>
              </a:rPr>
              <a:t>Kibana</a:t>
            </a:r>
          </a:p>
        </p:txBody>
      </p:sp>
      <p:sp>
        <p:nvSpPr>
          <p:cNvPr id="12" name="TextBox 11"/>
          <p:cNvSpPr txBox="1"/>
          <p:nvPr/>
        </p:nvSpPr>
        <p:spPr>
          <a:xfrm>
            <a:off x="3547872" y="2176272"/>
            <a:ext cx="2286000" cy="365760"/>
          </a:xfrm>
          <a:prstGeom prst="rect">
            <a:avLst/>
          </a:prstGeom>
          <a:noFill/>
        </p:spPr>
        <p:txBody>
          <a:bodyPr wrap="square" lIns="45720" rIns="45720" tIns="27432" bIns="27432" anchor="t">
            <a:spAutoFit/>
          </a:bodyPr>
          <a:lstStyle/>
          <a:p>
            <a:pPr algn="l">
              <a:lnSpc>
                <a:spcPct val="110000"/>
              </a:lnSpc>
              <a:spcAft>
                <a:spcPts val="400"/>
              </a:spcAft>
            </a:pPr>
            <a:r>
              <a:rPr sz="1200" b="1" i="0">
                <a:solidFill>
                  <a:srgbClr val="0EA5C0"/>
                </a:solidFill>
                <a:latin typeface="Calibri"/>
              </a:rPr>
              <a:t>Fouiller les logs</a:t>
            </a:r>
          </a:p>
        </p:txBody>
      </p:sp>
      <p:sp>
        <p:nvSpPr>
          <p:cNvPr id="13" name="TextBox 12"/>
          <p:cNvSpPr txBox="1"/>
          <p:nvPr/>
        </p:nvSpPr>
        <p:spPr>
          <a:xfrm>
            <a:off x="3502152" y="2606040"/>
            <a:ext cx="2423160" cy="2057400"/>
          </a:xfrm>
          <a:prstGeom prst="rect">
            <a:avLst/>
          </a:prstGeom>
          <a:noFill/>
        </p:spPr>
        <p:txBody>
          <a:bodyPr wrap="square" lIns="45720" rIns="45720" tIns="27432" bIns="27432">
            <a:spAutoFit/>
          </a:bodyPr>
          <a:lstStyle/>
          <a:p>
            <a:pPr>
              <a:lnSpc>
                <a:spcPct val="108000"/>
              </a:lnSpc>
              <a:spcAft>
                <a:spcPts val="600"/>
              </a:spcAft>
            </a:pPr>
            <a:r>
              <a:rPr sz="1200" b="1">
                <a:solidFill>
                  <a:srgbClr val="0EA5C0"/>
                </a:solidFill>
                <a:latin typeface="Calibri"/>
              </a:rPr>
              <a:t>▸ </a:t>
            </a:r>
            <a:r>
              <a:rPr sz="1200" b="0" i="0">
                <a:solidFill>
                  <a:srgbClr val="111B2E"/>
                </a:solidFill>
                <a:latin typeface="Calibri"/>
              </a:rPr>
              <a:t>Discover sur des data views prêtes : zeek, suricata, snort, netflow, beacons, arkime</a:t>
            </a:r>
          </a:p>
          <a:p>
            <a:pPr>
              <a:lnSpc>
                <a:spcPct val="108000"/>
              </a:lnSpc>
              <a:spcAft>
                <a:spcPts val="600"/>
              </a:spcAft>
            </a:pPr>
            <a:r>
              <a:rPr sz="1200" b="1">
                <a:solidFill>
                  <a:srgbClr val="0EA5C0"/>
                </a:solidFill>
                <a:latin typeface="Calibri"/>
              </a:rPr>
              <a:t>▸ </a:t>
            </a:r>
            <a:r>
              <a:rPr sz="1200" b="0" i="0">
                <a:solidFill>
                  <a:srgbClr val="111B2E"/>
                </a:solidFill>
                <a:latin typeface="Calibri"/>
              </a:rPr>
              <a:t>ouvert depuis /zeek ou depuis une IP avec la requête préremplie</a:t>
            </a:r>
          </a:p>
        </p:txBody>
      </p:sp>
      <p:sp>
        <p:nvSpPr>
          <p:cNvPr id="14" name="Rounded Rectangle 13"/>
          <p:cNvSpPr/>
          <p:nvPr/>
        </p:nvSpPr>
        <p:spPr>
          <a:xfrm>
            <a:off x="6181344" y="1645920"/>
            <a:ext cx="2651760" cy="306324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64224" y="1783080"/>
            <a:ext cx="2286000" cy="411480"/>
          </a:xfrm>
          <a:prstGeom prst="rect">
            <a:avLst/>
          </a:prstGeom>
          <a:noFill/>
        </p:spPr>
        <p:txBody>
          <a:bodyPr wrap="square" lIns="45720" rIns="45720" tIns="27432" bIns="27432" anchor="t">
            <a:spAutoFit/>
          </a:bodyPr>
          <a:lstStyle/>
          <a:p>
            <a:pPr algn="l">
              <a:lnSpc>
                <a:spcPct val="110000"/>
              </a:lnSpc>
              <a:spcAft>
                <a:spcPts val="400"/>
              </a:spcAft>
            </a:pPr>
            <a:r>
              <a:rPr sz="1800" b="1" i="0">
                <a:solidFill>
                  <a:srgbClr val="111B2E"/>
                </a:solidFill>
                <a:latin typeface="Calibri"/>
              </a:rPr>
              <a:t>ntopng</a:t>
            </a:r>
          </a:p>
        </p:txBody>
      </p:sp>
      <p:sp>
        <p:nvSpPr>
          <p:cNvPr id="16" name="TextBox 15"/>
          <p:cNvSpPr txBox="1"/>
          <p:nvPr/>
        </p:nvSpPr>
        <p:spPr>
          <a:xfrm>
            <a:off x="6364224" y="2176272"/>
            <a:ext cx="2286000" cy="365760"/>
          </a:xfrm>
          <a:prstGeom prst="rect">
            <a:avLst/>
          </a:prstGeom>
          <a:noFill/>
        </p:spPr>
        <p:txBody>
          <a:bodyPr wrap="square" lIns="45720" rIns="45720" tIns="27432" bIns="27432" anchor="t">
            <a:spAutoFit/>
          </a:bodyPr>
          <a:lstStyle/>
          <a:p>
            <a:pPr algn="l">
              <a:lnSpc>
                <a:spcPct val="110000"/>
              </a:lnSpc>
              <a:spcAft>
                <a:spcPts val="400"/>
              </a:spcAft>
            </a:pPr>
            <a:r>
              <a:rPr sz="1200" b="1" i="0">
                <a:solidFill>
                  <a:srgbClr val="0EA5C0"/>
                </a:solidFill>
                <a:latin typeface="Calibri"/>
              </a:rPr>
              <a:t>Visibilité nDPI</a:t>
            </a:r>
          </a:p>
        </p:txBody>
      </p:sp>
      <p:sp>
        <p:nvSpPr>
          <p:cNvPr id="17" name="TextBox 16"/>
          <p:cNvSpPr txBox="1"/>
          <p:nvPr/>
        </p:nvSpPr>
        <p:spPr>
          <a:xfrm>
            <a:off x="6318504" y="2606040"/>
            <a:ext cx="2423160" cy="2057400"/>
          </a:xfrm>
          <a:prstGeom prst="rect">
            <a:avLst/>
          </a:prstGeom>
          <a:noFill/>
        </p:spPr>
        <p:txBody>
          <a:bodyPr wrap="square" lIns="45720" rIns="45720" tIns="27432" bIns="27432">
            <a:spAutoFit/>
          </a:bodyPr>
          <a:lstStyle/>
          <a:p>
            <a:pPr>
              <a:lnSpc>
                <a:spcPct val="108000"/>
              </a:lnSpc>
              <a:spcAft>
                <a:spcPts val="600"/>
              </a:spcAft>
            </a:pPr>
            <a:r>
              <a:rPr sz="1200" b="1">
                <a:solidFill>
                  <a:srgbClr val="0EA5C0"/>
                </a:solidFill>
                <a:latin typeface="Calibri"/>
              </a:rPr>
              <a:t>▸ </a:t>
            </a:r>
            <a:r>
              <a:rPr sz="1200" b="0" i="0">
                <a:solidFill>
                  <a:srgbClr val="111B2E"/>
                </a:solidFill>
                <a:latin typeface="Calibri"/>
              </a:rPr>
              <a:t>300+ protocoles reconnus en temps réel</a:t>
            </a:r>
          </a:p>
          <a:p>
            <a:pPr>
              <a:lnSpc>
                <a:spcPct val="108000"/>
              </a:lnSpc>
              <a:spcAft>
                <a:spcPts val="600"/>
              </a:spcAft>
            </a:pPr>
            <a:r>
              <a:rPr sz="1200" b="1">
                <a:solidFill>
                  <a:srgbClr val="0EA5C0"/>
                </a:solidFill>
                <a:latin typeface="Calibri"/>
              </a:rPr>
              <a:t>▸ </a:t>
            </a:r>
            <a:r>
              <a:rPr sz="1200" b="0" i="0">
                <a:solidFill>
                  <a:srgbClr val="111B2E"/>
                </a:solidFill>
                <a:latin typeface="Calibri"/>
              </a:rPr>
              <a:t>valide et complète le dictionnaire applicatif SNI</a:t>
            </a:r>
          </a:p>
        </p:txBody>
      </p:sp>
      <p:sp>
        <p:nvSpPr>
          <p:cNvPr id="18" name="Rounded Rectangle 17"/>
          <p:cNvSpPr/>
          <p:nvPr/>
        </p:nvSpPr>
        <p:spPr>
          <a:xfrm>
            <a:off x="8997696" y="1645920"/>
            <a:ext cx="2651760" cy="30632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80576" y="1783080"/>
            <a:ext cx="2286000" cy="411480"/>
          </a:xfrm>
          <a:prstGeom prst="rect">
            <a:avLst/>
          </a:prstGeom>
          <a:noFill/>
        </p:spPr>
        <p:txBody>
          <a:bodyPr wrap="square" lIns="45720" rIns="45720" tIns="27432" bIns="27432" anchor="t">
            <a:spAutoFit/>
          </a:bodyPr>
          <a:lstStyle/>
          <a:p>
            <a:pPr algn="l">
              <a:lnSpc>
                <a:spcPct val="110000"/>
              </a:lnSpc>
              <a:spcAft>
                <a:spcPts val="400"/>
              </a:spcAft>
            </a:pPr>
            <a:r>
              <a:rPr sz="1800" b="1" i="0">
                <a:solidFill>
                  <a:srgbClr val="111B2E"/>
                </a:solidFill>
                <a:latin typeface="Calibri"/>
              </a:rPr>
              <a:t>Analyse PCAP</a:t>
            </a:r>
          </a:p>
        </p:txBody>
      </p:sp>
      <p:sp>
        <p:nvSpPr>
          <p:cNvPr id="20" name="TextBox 19"/>
          <p:cNvSpPr txBox="1"/>
          <p:nvPr/>
        </p:nvSpPr>
        <p:spPr>
          <a:xfrm>
            <a:off x="9180576" y="2176272"/>
            <a:ext cx="2286000" cy="365760"/>
          </a:xfrm>
          <a:prstGeom prst="rect">
            <a:avLst/>
          </a:prstGeom>
          <a:noFill/>
        </p:spPr>
        <p:txBody>
          <a:bodyPr wrap="square" lIns="45720" rIns="45720" tIns="27432" bIns="27432" anchor="t">
            <a:spAutoFit/>
          </a:bodyPr>
          <a:lstStyle/>
          <a:p>
            <a:pPr algn="l">
              <a:lnSpc>
                <a:spcPct val="110000"/>
              </a:lnSpc>
              <a:spcAft>
                <a:spcPts val="400"/>
              </a:spcAft>
            </a:pPr>
            <a:r>
              <a:rPr sz="1200" b="1" i="0">
                <a:solidFill>
                  <a:srgbClr val="0EA5C0"/>
                </a:solidFill>
                <a:latin typeface="Calibri"/>
              </a:rPr>
              <a:t>Conversation par conversation</a:t>
            </a:r>
          </a:p>
        </p:txBody>
      </p:sp>
      <p:sp>
        <p:nvSpPr>
          <p:cNvPr id="21" name="TextBox 20"/>
          <p:cNvSpPr txBox="1"/>
          <p:nvPr/>
        </p:nvSpPr>
        <p:spPr>
          <a:xfrm>
            <a:off x="9134856" y="2606040"/>
            <a:ext cx="2423160" cy="2057400"/>
          </a:xfrm>
          <a:prstGeom prst="rect">
            <a:avLst/>
          </a:prstGeom>
          <a:noFill/>
        </p:spPr>
        <p:txBody>
          <a:bodyPr wrap="square" lIns="45720" rIns="45720" tIns="27432" bIns="27432">
            <a:spAutoFit/>
          </a:bodyPr>
          <a:lstStyle/>
          <a:p>
            <a:pPr>
              <a:lnSpc>
                <a:spcPct val="108000"/>
              </a:lnSpc>
              <a:spcAft>
                <a:spcPts val="600"/>
              </a:spcAft>
            </a:pPr>
            <a:r>
              <a:rPr sz="1200" b="1">
                <a:solidFill>
                  <a:srgbClr val="0EA5C0"/>
                </a:solidFill>
                <a:latin typeface="Calibri"/>
              </a:rPr>
              <a:t>▸ </a:t>
            </a:r>
            <a:r>
              <a:rPr sz="1200" b="0" i="0">
                <a:solidFill>
                  <a:srgbClr val="111B2E"/>
                </a:solidFill>
                <a:latin typeface="Calibri"/>
              </a:rPr>
              <a:t>tshark : handshake, retransmissions, fenêtre, QoS/VLAN, timeline</a:t>
            </a:r>
          </a:p>
          <a:p>
            <a:pPr>
              <a:lnSpc>
                <a:spcPct val="108000"/>
              </a:lnSpc>
              <a:spcAft>
                <a:spcPts val="600"/>
              </a:spcAft>
            </a:pPr>
            <a:r>
              <a:rPr sz="1200" b="1">
                <a:solidFill>
                  <a:srgbClr val="0EA5C0"/>
                </a:solidFill>
                <a:latin typeface="Calibri"/>
              </a:rPr>
              <a:t>▸ </a:t>
            </a:r>
            <a:r>
              <a:rPr sz="1200" b="0" i="0">
                <a:solidFill>
                  <a:srgbClr val="111B2E"/>
                </a:solidFill>
                <a:latin typeface="Calibri"/>
              </a:rPr>
              <a:t>notion de point d'écoute ; narration IA optionnelle</a:t>
            </a:r>
          </a:p>
        </p:txBody>
      </p:sp>
      <p:sp>
        <p:nvSpPr>
          <p:cNvPr id="22" name="Rounded Rectangle 21"/>
          <p:cNvSpPr/>
          <p:nvPr/>
        </p:nvSpPr>
        <p:spPr>
          <a:xfrm>
            <a:off x="548640" y="5029200"/>
            <a:ext cx="11091672" cy="640080"/>
          </a:xfrm>
          <a:prstGeom prst="roundRect">
            <a:avLst>
              <a:gd name="adj" fmla="val 10000"/>
            </a:avLst>
          </a:prstGeom>
          <a:solidFill>
            <a:srgbClr val="141F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777240" y="5138928"/>
            <a:ext cx="10698480" cy="411480"/>
          </a:xfrm>
          <a:prstGeom prst="rect">
            <a:avLst/>
          </a:prstGeom>
          <a:noFill/>
        </p:spPr>
        <p:txBody>
          <a:bodyPr wrap="square" lIns="45720" rIns="45720" tIns="27432" bIns="27432" anchor="t">
            <a:spAutoFit/>
          </a:bodyPr>
          <a:lstStyle/>
          <a:p>
            <a:pPr algn="l">
              <a:lnSpc>
                <a:spcPct val="110000"/>
              </a:lnSpc>
              <a:spcAft>
                <a:spcPts val="400"/>
              </a:spcAft>
            </a:pPr>
            <a:r>
              <a:rPr sz="1250" b="0" i="0">
                <a:solidFill>
                  <a:srgbClr val="FFFFFF"/>
                </a:solidFill>
                <a:latin typeface="Calibri"/>
              </a:rPr>
              <a:t>Un seul point d'entrée HTTPS (Caddy) : /grafana/, /kibana/, /arkime/, /ntopng/, /netbox/ — la session du portail vaut pour tous les outils.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11</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Et la détection, dans la même sonde</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Le volet NDR : utile à l'équipe réseau pour distinguer un incident de performance d'un incident de sécurité</a:t>
            </a:r>
          </a:p>
        </p:txBody>
      </p:sp>
      <p:pic>
        <p:nvPicPr>
          <p:cNvPr id="6" name="Picture 5" descr="home-triage.png"/>
          <p:cNvPicPr>
            <a:picLocks noChangeAspect="1"/>
          </p:cNvPicPr>
          <p:nvPr/>
        </p:nvPicPr>
        <p:blipFill>
          <a:blip r:embed="rId2"/>
          <a:stretch>
            <a:fillRect/>
          </a:stretch>
        </p:blipFill>
        <p:spPr>
          <a:xfrm>
            <a:off x="548640" y="1554480"/>
            <a:ext cx="11091672" cy="1425547"/>
          </a:xfrm>
          <a:prstGeom prst="rect">
            <a:avLst/>
          </a:prstGeom>
          <a:ln w="9525">
            <a:solidFill>
              <a:srgbClr val="D5DBE5"/>
            </a:solidFill>
          </a:ln>
        </p:spPr>
      </p:pic>
      <p:sp>
        <p:nvSpPr>
          <p:cNvPr id="7" name="Rounded Rectangle 6"/>
          <p:cNvSpPr/>
          <p:nvPr/>
        </p:nvSpPr>
        <p:spPr>
          <a:xfrm>
            <a:off x="548640" y="3246120"/>
            <a:ext cx="3566160" cy="27432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3410712"/>
            <a:ext cx="3154679"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Trois moteurs, un trafic</a:t>
            </a:r>
          </a:p>
        </p:txBody>
      </p:sp>
      <p:sp>
        <p:nvSpPr>
          <p:cNvPr id="9" name="TextBox 8"/>
          <p:cNvSpPr txBox="1"/>
          <p:nvPr/>
        </p:nvSpPr>
        <p:spPr>
          <a:xfrm>
            <a:off x="731520" y="3904487"/>
            <a:ext cx="3200400" cy="1965960"/>
          </a:xfrm>
          <a:prstGeom prst="rect">
            <a:avLst/>
          </a:prstGeom>
          <a:noFill/>
        </p:spPr>
        <p:txBody>
          <a:bodyPr wrap="square" lIns="45720" rIns="45720" tIns="27432" bIns="27432">
            <a:spAutoFit/>
          </a:bodyPr>
          <a:lstStyle/>
          <a:p>
            <a:pPr>
              <a:lnSpc>
                <a:spcPct val="108000"/>
              </a:lnSpc>
              <a:spcAft>
                <a:spcPts val="400"/>
              </a:spcAft>
            </a:pPr>
            <a:r>
              <a:rPr sz="1250" b="1">
                <a:solidFill>
                  <a:srgbClr val="0EA5C0"/>
                </a:solidFill>
                <a:latin typeface="Calibri"/>
              </a:rPr>
              <a:t>▸ </a:t>
            </a:r>
            <a:r>
              <a:rPr sz="1250" b="0" i="0">
                <a:solidFill>
                  <a:srgbClr val="111B2E"/>
                </a:solidFill>
                <a:latin typeface="Calibri"/>
              </a:rPr>
              <a:t>Zeek (protocoles, JA3/HASSH, intel), Snort 3, Suricata 7 (ET Open)</a:t>
            </a:r>
          </a:p>
          <a:p>
            <a:pPr>
              <a:lnSpc>
                <a:spcPct val="108000"/>
              </a:lnSpc>
              <a:spcAft>
                <a:spcPts val="400"/>
              </a:spcAft>
            </a:pPr>
            <a:r>
              <a:rPr sz="1250" b="1">
                <a:solidFill>
                  <a:srgbClr val="0EA5C0"/>
                </a:solidFill>
                <a:latin typeface="Calibri"/>
              </a:rPr>
              <a:t>▸ </a:t>
            </a:r>
            <a:r>
              <a:rPr sz="1250" b="0" i="0">
                <a:solidFill>
                  <a:srgbClr val="111B2E"/>
                </a:solidFill>
                <a:latin typeface="Calibri"/>
              </a:rPr>
              <a:t>corrélation Community ID entre Suricata et Zeek</a:t>
            </a:r>
          </a:p>
          <a:p>
            <a:pPr>
              <a:lnSpc>
                <a:spcPct val="108000"/>
              </a:lnSpc>
              <a:spcAft>
                <a:spcPts val="400"/>
              </a:spcAft>
            </a:pPr>
            <a:r>
              <a:rPr sz="1250" b="1">
                <a:solidFill>
                  <a:srgbClr val="0EA5C0"/>
                </a:solidFill>
                <a:latin typeface="Calibri"/>
              </a:rPr>
              <a:t>▸ </a:t>
            </a:r>
            <a:r>
              <a:rPr sz="1250" b="0" i="0">
                <a:solidFill>
                  <a:srgbClr val="111B2E"/>
                </a:solidFill>
                <a:latin typeface="Calibri"/>
              </a:rPr>
              <a:t>incidents = fenêtres 5 min + chaîne MITRE ATT&amp;CK</a:t>
            </a:r>
          </a:p>
        </p:txBody>
      </p:sp>
      <p:sp>
        <p:nvSpPr>
          <p:cNvPr id="10" name="Rounded Rectangle 9"/>
          <p:cNvSpPr/>
          <p:nvPr/>
        </p:nvSpPr>
        <p:spPr>
          <a:xfrm>
            <a:off x="4315968" y="3246120"/>
            <a:ext cx="3566160" cy="274320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44568" y="3410712"/>
            <a:ext cx="3154679"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Comportemental</a:t>
            </a:r>
          </a:p>
        </p:txBody>
      </p:sp>
      <p:sp>
        <p:nvSpPr>
          <p:cNvPr id="12" name="TextBox 11"/>
          <p:cNvSpPr txBox="1"/>
          <p:nvPr/>
        </p:nvSpPr>
        <p:spPr>
          <a:xfrm>
            <a:off x="4498848" y="3904487"/>
            <a:ext cx="3200400" cy="1965960"/>
          </a:xfrm>
          <a:prstGeom prst="rect">
            <a:avLst/>
          </a:prstGeom>
          <a:noFill/>
        </p:spPr>
        <p:txBody>
          <a:bodyPr wrap="square" lIns="45720" rIns="45720" tIns="27432" bIns="27432">
            <a:spAutoFit/>
          </a:bodyPr>
          <a:lstStyle/>
          <a:p>
            <a:pPr>
              <a:lnSpc>
                <a:spcPct val="108000"/>
              </a:lnSpc>
              <a:spcAft>
                <a:spcPts val="400"/>
              </a:spcAft>
            </a:pPr>
            <a:r>
              <a:rPr sz="1250" b="1">
                <a:solidFill>
                  <a:srgbClr val="0EA5C0"/>
                </a:solidFill>
                <a:latin typeface="Calibri"/>
              </a:rPr>
              <a:t>▸ </a:t>
            </a:r>
            <a:r>
              <a:rPr sz="1250" b="0" i="0">
                <a:solidFill>
                  <a:srgbClr val="111B2E"/>
                </a:solidFill>
                <a:latin typeface="Calibri"/>
              </a:rPr>
              <a:t>beaconing C2 (régularité des connexions), connexions longues, DNS tunneling</a:t>
            </a:r>
          </a:p>
          <a:p>
            <a:pPr>
              <a:lnSpc>
                <a:spcPct val="108000"/>
              </a:lnSpc>
              <a:spcAft>
                <a:spcPts val="400"/>
              </a:spcAft>
            </a:pPr>
            <a:r>
              <a:rPr sz="1250" b="1">
                <a:solidFill>
                  <a:srgbClr val="0EA5C0"/>
                </a:solidFill>
                <a:latin typeface="Calibri"/>
              </a:rPr>
              <a:t>▸ </a:t>
            </a:r>
            <a:r>
              <a:rPr sz="1250" b="0" i="0">
                <a:solidFill>
                  <a:srgbClr val="111B2E"/>
                </a:solidFill>
                <a:latin typeface="Calibri"/>
              </a:rPr>
              <a:t>threat intel Feodo / URLhaus, réputation IP</a:t>
            </a:r>
          </a:p>
          <a:p>
            <a:pPr>
              <a:lnSpc>
                <a:spcPct val="108000"/>
              </a:lnSpc>
              <a:spcAft>
                <a:spcPts val="400"/>
              </a:spcAft>
            </a:pPr>
            <a:r>
              <a:rPr sz="1250" b="1">
                <a:solidFill>
                  <a:srgbClr val="0EA5C0"/>
                </a:solidFill>
                <a:latin typeface="Calibri"/>
              </a:rPr>
              <a:t>▸ </a:t>
            </a:r>
            <a:r>
              <a:rPr sz="1250" b="0" i="0">
                <a:solidFill>
                  <a:srgbClr val="111B2E"/>
                </a:solidFill>
                <a:latin typeface="Calibri"/>
              </a:rPr>
              <a:t>score IOC composite, graphe interactif</a:t>
            </a:r>
          </a:p>
        </p:txBody>
      </p:sp>
      <p:sp>
        <p:nvSpPr>
          <p:cNvPr id="13" name="Rounded Rectangle 12"/>
          <p:cNvSpPr/>
          <p:nvPr/>
        </p:nvSpPr>
        <p:spPr>
          <a:xfrm>
            <a:off x="8083296" y="3246120"/>
            <a:ext cx="3566160" cy="274320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311896" y="3410712"/>
            <a:ext cx="3154679"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Réponse &amp; aide à l'analyse</a:t>
            </a:r>
          </a:p>
        </p:txBody>
      </p:sp>
      <p:sp>
        <p:nvSpPr>
          <p:cNvPr id="15" name="TextBox 14"/>
          <p:cNvSpPr txBox="1"/>
          <p:nvPr/>
        </p:nvSpPr>
        <p:spPr>
          <a:xfrm>
            <a:off x="8266175" y="3904487"/>
            <a:ext cx="3200400" cy="1965960"/>
          </a:xfrm>
          <a:prstGeom prst="rect">
            <a:avLst/>
          </a:prstGeom>
          <a:noFill/>
        </p:spPr>
        <p:txBody>
          <a:bodyPr wrap="square" lIns="45720" rIns="45720" tIns="27432" bIns="27432">
            <a:spAutoFit/>
          </a:bodyPr>
          <a:lstStyle/>
          <a:p>
            <a:pPr>
              <a:lnSpc>
                <a:spcPct val="108000"/>
              </a:lnSpc>
              <a:spcAft>
                <a:spcPts val="400"/>
              </a:spcAft>
            </a:pPr>
            <a:r>
              <a:rPr sz="1250" b="1">
                <a:solidFill>
                  <a:srgbClr val="0EA5C0"/>
                </a:solidFill>
                <a:latin typeface="Calibri"/>
              </a:rPr>
              <a:t>▸ </a:t>
            </a:r>
            <a:r>
              <a:rPr sz="1250" b="0" i="0">
                <a:solidFill>
                  <a:srgbClr val="111B2E"/>
                </a:solidFill>
                <a:latin typeface="Calibri"/>
              </a:rPr>
              <a:t>AutoBlock (iptables) en dry-run par défaut, allowlist</a:t>
            </a:r>
          </a:p>
          <a:p>
            <a:pPr>
              <a:lnSpc>
                <a:spcPct val="108000"/>
              </a:lnSpc>
              <a:spcAft>
                <a:spcPts val="400"/>
              </a:spcAft>
            </a:pPr>
            <a:r>
              <a:rPr sz="1250" b="1">
                <a:solidFill>
                  <a:srgbClr val="0EA5C0"/>
                </a:solidFill>
                <a:latin typeface="Calibri"/>
              </a:rPr>
              <a:t>▸ </a:t>
            </a:r>
            <a:r>
              <a:rPr sz="1250" b="0" i="0">
                <a:solidFill>
                  <a:srgbClr val="111B2E"/>
                </a:solidFill>
                <a:latin typeface="Calibri"/>
              </a:rPr>
              <a:t>escalade n8n → ServiceNow / JIRA</a:t>
            </a:r>
          </a:p>
          <a:p>
            <a:pPr>
              <a:lnSpc>
                <a:spcPct val="108000"/>
              </a:lnSpc>
              <a:spcAft>
                <a:spcPts val="400"/>
              </a:spcAft>
            </a:pPr>
            <a:r>
              <a:rPr sz="1250" b="1">
                <a:solidFill>
                  <a:srgbClr val="0EA5C0"/>
                </a:solidFill>
                <a:latin typeface="Calibri"/>
              </a:rPr>
              <a:t>▸ </a:t>
            </a:r>
            <a:r>
              <a:rPr sz="1250" b="0" i="0">
                <a:solidFill>
                  <a:srgbClr val="111B2E"/>
                </a:solidFill>
                <a:latin typeface="Calibri"/>
              </a:rPr>
              <a:t>édition IA : explication d'alerte par un modèle local (Ollama), optionnelle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12</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Correspondance fonctionnelle</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Ce que couvre NetWatch v2.1 face aux fonctions NPM que vous utilisez</a:t>
            </a:r>
          </a:p>
        </p:txBody>
      </p:sp>
      <p:graphicFrame>
        <p:nvGraphicFramePr>
          <p:cNvPr id="6" name="Table 5"/>
          <p:cNvGraphicFramePr>
            <a:graphicFrameLocks noGrp="1"/>
          </p:cNvGraphicFramePr>
          <p:nvPr/>
        </p:nvGraphicFramePr>
        <p:xfrm>
          <a:off x="548640" y="1600200"/>
          <a:ext cx="11091672" cy="4526280"/>
        </p:xfrm>
        <a:graphic>
          <a:graphicData uri="http://schemas.openxmlformats.org/drawingml/2006/table">
            <a:tbl>
              <a:tblPr firstRow="1" bandRow="1">
                <a:tableStyleId>{5C22544A-7EE6-4342-B048-85BDC9FD1C3A}</a:tableStyleId>
              </a:tblPr>
              <a:tblGrid>
                <a:gridCol w="3291840"/>
                <a:gridCol w="4572000"/>
                <a:gridCol w="3227832"/>
              </a:tblGrid>
              <a:tr h="411480">
                <a:tc>
                  <a:txBody>
                    <a:bodyPr wrap="square"/>
                    <a:lstStyle/>
                    <a:p>
                      <a:r>
                        <a:rPr sz="1100" b="1">
                          <a:solidFill>
                            <a:srgbClr val="FFFFFF"/>
                          </a:solidFill>
                          <a:latin typeface="Calibri"/>
                        </a:rPr>
                        <a:t>Fonction NPM</a:t>
                      </a:r>
                    </a:p>
                  </a:txBody>
                  <a:tcPr marL="73152" marR="73152" marT="27432" marB="27432" anchor="ctr">
                    <a:solidFill>
                      <a:srgbClr val="141F36"/>
                    </a:solidFill>
                  </a:tcPr>
                </a:tc>
                <a:tc>
                  <a:txBody>
                    <a:bodyPr wrap="square"/>
                    <a:lstStyle/>
                    <a:p>
                      <a:r>
                        <a:rPr sz="1100" b="1">
                          <a:solidFill>
                            <a:srgbClr val="FFFFFF"/>
                          </a:solidFill>
                          <a:latin typeface="Calibri"/>
                        </a:rPr>
                        <a:t>NetWatch v2.1</a:t>
                      </a:r>
                    </a:p>
                  </a:txBody>
                  <a:tcPr marL="73152" marR="73152" marT="27432" marB="27432" anchor="ctr">
                    <a:solidFill>
                      <a:srgbClr val="141F36"/>
                    </a:solidFill>
                  </a:tcPr>
                </a:tc>
                <a:tc>
                  <a:txBody>
                    <a:bodyPr wrap="square"/>
                    <a:lstStyle/>
                    <a:p>
                      <a:r>
                        <a:rPr sz="1100" b="1">
                          <a:solidFill>
                            <a:srgbClr val="FFFFFF"/>
                          </a:solidFill>
                          <a:latin typeface="Calibri"/>
                        </a:rPr>
                        <a:t>Équivalent commercial</a:t>
                      </a:r>
                    </a:p>
                  </a:txBody>
                  <a:tcPr marL="73152" marR="73152" marT="27432" marB="27432" anchor="ctr">
                    <a:solidFill>
                      <a:srgbClr val="141F36"/>
                    </a:solidFill>
                  </a:tcPr>
                </a:tc>
              </a:tr>
              <a:tr h="411480">
                <a:tc>
                  <a:txBody>
                    <a:bodyPr wrap="square"/>
                    <a:lstStyle/>
                    <a:p>
                      <a:r>
                        <a:rPr sz="1100" b="1">
                          <a:solidFill>
                            <a:srgbClr val="111B2E"/>
                          </a:solidFill>
                          <a:latin typeface="Calibri"/>
                        </a:rPr>
                        <a:t>Flux NetFlow / IPFIX / sFlow</a:t>
                      </a:r>
                    </a:p>
                  </a:txBody>
                  <a:tcPr marL="73152" marR="73152" marT="27432" marB="27432" anchor="ctr">
                    <a:solidFill>
                      <a:srgbClr val="FFFFFF"/>
                    </a:solidFill>
                  </a:tcPr>
                </a:tc>
                <a:tc>
                  <a:txBody>
                    <a:bodyPr wrap="square"/>
                    <a:lstStyle/>
                    <a:p>
                      <a:r>
                        <a:rPr sz="1100" b="0">
                          <a:solidFill>
                            <a:srgbClr val="111B2E"/>
                          </a:solidFill>
                          <a:latin typeface="Calibri"/>
                        </a:rPr>
                        <a:t>GoFlow2 → Elasticsearch netflow-*, top talkers, top apps</a:t>
                      </a:r>
                    </a:p>
                  </a:txBody>
                  <a:tcPr marL="73152" marR="73152" marT="27432" marB="27432" anchor="ctr">
                    <a:solidFill>
                      <a:srgbClr val="FFFFFF"/>
                    </a:solidFill>
                  </a:tcPr>
                </a:tc>
                <a:tc>
                  <a:txBody>
                    <a:bodyPr wrap="square"/>
                    <a:lstStyle/>
                    <a:p>
                      <a:r>
                        <a:rPr sz="1100" b="0">
                          <a:solidFill>
                            <a:srgbClr val="111B2E"/>
                          </a:solidFill>
                          <a:latin typeface="Calibri"/>
                        </a:rPr>
                        <a:t>nGeniusONE · Gigamon · Riverbed</a:t>
                      </a:r>
                    </a:p>
                  </a:txBody>
                  <a:tcPr marL="73152" marR="73152" marT="27432" marB="27432" anchor="ctr">
                    <a:solidFill>
                      <a:srgbClr val="FFFFFF"/>
                    </a:solidFill>
                  </a:tcPr>
                </a:tc>
              </a:tr>
              <a:tr h="411480">
                <a:tc>
                  <a:txBody>
                    <a:bodyPr wrap="square"/>
                    <a:lstStyle/>
                    <a:p>
                      <a:r>
                        <a:rPr sz="1100" b="1">
                          <a:solidFill>
                            <a:srgbClr val="111B2E"/>
                          </a:solidFill>
                          <a:latin typeface="Calibri"/>
                        </a:rPr>
                        <a:t>Application Response Time</a:t>
                      </a:r>
                    </a:p>
                  </a:txBody>
                  <a:tcPr marL="73152" marR="73152" marT="27432" marB="27432" anchor="ctr">
                    <a:solidFill>
                      <a:srgbClr val="F3F5F8"/>
                    </a:solidFill>
                  </a:tcPr>
                </a:tc>
                <a:tc>
                  <a:txBody>
                    <a:bodyPr wrap="square"/>
                    <a:lstStyle/>
                    <a:p>
                      <a:r>
                        <a:rPr sz="1100" b="0">
                          <a:solidFill>
                            <a:srgbClr val="111B2E"/>
                          </a:solidFill>
                          <a:latin typeface="Calibri"/>
                        </a:rPr>
                        <a:t>Zeek → percentiles ES p50/p95/p99 par service, seuils</a:t>
                      </a:r>
                    </a:p>
                  </a:txBody>
                  <a:tcPr marL="73152" marR="73152" marT="27432" marB="27432" anchor="ctr">
                    <a:solidFill>
                      <a:srgbClr val="F3F5F8"/>
                    </a:solidFill>
                  </a:tcPr>
                </a:tc>
                <a:tc>
                  <a:txBody>
                    <a:bodyPr wrap="square"/>
                    <a:lstStyle/>
                    <a:p>
                      <a:r>
                        <a:rPr sz="1100" b="0">
                          <a:solidFill>
                            <a:srgbClr val="111B2E"/>
                          </a:solidFill>
                          <a:latin typeface="Calibri"/>
                        </a:rPr>
                        <a:t>nGeniusONE Service Triage · Riverbed</a:t>
                      </a:r>
                    </a:p>
                  </a:txBody>
                  <a:tcPr marL="73152" marR="73152" marT="27432" marB="27432" anchor="ctr">
                    <a:solidFill>
                      <a:srgbClr val="F3F5F8"/>
                    </a:solidFill>
                  </a:tcPr>
                </a:tc>
              </a:tr>
              <a:tr h="411480">
                <a:tc>
                  <a:txBody>
                    <a:bodyPr wrap="square"/>
                    <a:lstStyle/>
                    <a:p>
                      <a:r>
                        <a:rPr sz="1100" b="1">
                          <a:solidFill>
                            <a:srgbClr val="111B2E"/>
                          </a:solidFill>
                          <a:latin typeface="Calibri"/>
                        </a:rPr>
                        <a:t>Santé TCP (RTT, retrans., zero-window)</a:t>
                      </a:r>
                    </a:p>
                  </a:txBody>
                  <a:tcPr marL="73152" marR="73152" marT="27432" marB="27432" anchor="ctr">
                    <a:solidFill>
                      <a:srgbClr val="FFFFFF"/>
                    </a:solidFill>
                  </a:tcPr>
                </a:tc>
                <a:tc>
                  <a:txBody>
                    <a:bodyPr wrap="square"/>
                    <a:lstStyle/>
                    <a:p>
                      <a:r>
                        <a:rPr sz="1100" b="0">
                          <a:solidFill>
                            <a:srgbClr val="111B2E"/>
                          </a:solidFill>
                          <a:latin typeface="Calibri"/>
                        </a:rPr>
                        <a:t>conn.log history → ratios, top IP, seuils</a:t>
                      </a:r>
                    </a:p>
                  </a:txBody>
                  <a:tcPr marL="73152" marR="73152" marT="27432" marB="27432" anchor="ctr">
                    <a:solidFill>
                      <a:srgbClr val="FFFFFF"/>
                    </a:solidFill>
                  </a:tcPr>
                </a:tc>
                <a:tc>
                  <a:txBody>
                    <a:bodyPr wrap="square"/>
                    <a:lstStyle/>
                    <a:p>
                      <a:r>
                        <a:rPr sz="1100" b="0">
                          <a:solidFill>
                            <a:srgbClr val="111B2E"/>
                          </a:solidFill>
                          <a:latin typeface="Calibri"/>
                        </a:rPr>
                        <a:t>nGeniusONE TCP/IP Triage</a:t>
                      </a:r>
                    </a:p>
                  </a:txBody>
                  <a:tcPr marL="73152" marR="73152" marT="27432" marB="27432" anchor="ctr">
                    <a:solidFill>
                      <a:srgbClr val="FFFFFF"/>
                    </a:solidFill>
                  </a:tcPr>
                </a:tc>
              </a:tr>
              <a:tr h="411480">
                <a:tc>
                  <a:txBody>
                    <a:bodyPr wrap="square"/>
                    <a:lstStyle/>
                    <a:p>
                      <a:r>
                        <a:rPr sz="1100" b="1">
                          <a:solidFill>
                            <a:srgbClr val="111B2E"/>
                          </a:solidFill>
                          <a:latin typeface="Calibri"/>
                        </a:rPr>
                        <a:t>Supervision SNMP · capacity planning</a:t>
                      </a:r>
                    </a:p>
                  </a:txBody>
                  <a:tcPr marL="73152" marR="73152" marT="27432" marB="27432" anchor="ctr">
                    <a:solidFill>
                      <a:srgbClr val="F3F5F8"/>
                    </a:solidFill>
                  </a:tcPr>
                </a:tc>
                <a:tc>
                  <a:txBody>
                    <a:bodyPr wrap="square"/>
                    <a:lstStyle/>
                    <a:p>
                      <a:r>
                        <a:rPr sz="1100" b="0">
                          <a:solidFill>
                            <a:srgbClr val="111B2E"/>
                          </a:solidFill>
                          <a:latin typeface="Calibri"/>
                        </a:rPr>
                        <a:t>SNMP exporter IF-MIB, predict_linear</a:t>
                      </a:r>
                    </a:p>
                  </a:txBody>
                  <a:tcPr marL="73152" marR="73152" marT="27432" marB="27432" anchor="ctr">
                    <a:solidFill>
                      <a:srgbClr val="F3F5F8"/>
                    </a:solidFill>
                  </a:tcPr>
                </a:tc>
                <a:tc>
                  <a:txBody>
                    <a:bodyPr wrap="square"/>
                    <a:lstStyle/>
                    <a:p>
                      <a:r>
                        <a:rPr sz="1100" b="0">
                          <a:solidFill>
                            <a:srgbClr val="111B2E"/>
                          </a:solidFill>
                          <a:latin typeface="Calibri"/>
                        </a:rPr>
                        <a:t>Netscout · SolarWinds · PRTG</a:t>
                      </a:r>
                    </a:p>
                  </a:txBody>
                  <a:tcPr marL="73152" marR="73152" marT="27432" marB="27432" anchor="ctr">
                    <a:solidFill>
                      <a:srgbClr val="F3F5F8"/>
                    </a:solidFill>
                  </a:tcPr>
                </a:tc>
              </a:tr>
              <a:tr h="411480">
                <a:tc>
                  <a:txBody>
                    <a:bodyPr wrap="square"/>
                    <a:lstStyle/>
                    <a:p>
                      <a:r>
                        <a:rPr sz="1100" b="1">
                          <a:solidFill>
                            <a:srgbClr val="111B2E"/>
                          </a:solidFill>
                          <a:latin typeface="Calibri"/>
                        </a:rPr>
                        <a:t>Topologie L2/L3</a:t>
                      </a:r>
                    </a:p>
                  </a:txBody>
                  <a:tcPr marL="73152" marR="73152" marT="27432" marB="27432" anchor="ctr">
                    <a:solidFill>
                      <a:srgbClr val="FFFFFF"/>
                    </a:solidFill>
                  </a:tcPr>
                </a:tc>
                <a:tc>
                  <a:txBody>
                    <a:bodyPr wrap="square"/>
                    <a:lstStyle/>
                    <a:p>
                      <a:r>
                        <a:rPr sz="1100" b="0">
                          <a:solidFill>
                            <a:srgbClr val="111B2E"/>
                          </a:solidFill>
                          <a:latin typeface="Calibri"/>
                        </a:rPr>
                        <a:t>LLDP-MIB + ARP Zeek → carte D3.js</a:t>
                      </a:r>
                    </a:p>
                  </a:txBody>
                  <a:tcPr marL="73152" marR="73152" marT="27432" marB="27432" anchor="ctr">
                    <a:solidFill>
                      <a:srgbClr val="FFFFFF"/>
                    </a:solidFill>
                  </a:tcPr>
                </a:tc>
                <a:tc>
                  <a:txBody>
                    <a:bodyPr wrap="square"/>
                    <a:lstStyle/>
                    <a:p>
                      <a:r>
                        <a:rPr sz="1100" b="0">
                          <a:solidFill>
                            <a:srgbClr val="111B2E"/>
                          </a:solidFill>
                          <a:latin typeface="Calibri"/>
                        </a:rPr>
                        <a:t>Riverbed NetIM · SolarWinds NTM</a:t>
                      </a:r>
                    </a:p>
                  </a:txBody>
                  <a:tcPr marL="73152" marR="73152" marT="27432" marB="27432" anchor="ctr">
                    <a:solidFill>
                      <a:srgbClr val="FFFFFF"/>
                    </a:solidFill>
                  </a:tcPr>
                </a:tc>
              </a:tr>
              <a:tr h="411480">
                <a:tc>
                  <a:txBody>
                    <a:bodyPr wrap="square"/>
                    <a:lstStyle/>
                    <a:p>
                      <a:r>
                        <a:rPr sz="1100" b="1">
                          <a:solidFill>
                            <a:srgbClr val="111B2E"/>
                          </a:solidFill>
                          <a:latin typeface="Calibri"/>
                        </a:rPr>
                        <a:t>SLA / Business Hours</a:t>
                      </a:r>
                    </a:p>
                  </a:txBody>
                  <a:tcPr marL="73152" marR="73152" marT="27432" marB="27432" anchor="ctr">
                    <a:solidFill>
                      <a:srgbClr val="F3F5F8"/>
                    </a:solidFill>
                  </a:tcPr>
                </a:tc>
                <a:tc>
                  <a:txBody>
                    <a:bodyPr wrap="square"/>
                    <a:lstStyle/>
                    <a:p>
                      <a:r>
                        <a:rPr sz="1100" b="0">
                          <a:solidFill>
                            <a:srgbClr val="111B2E"/>
                          </a:solidFill>
                          <a:latin typeface="Calibri"/>
                        </a:rPr>
                        <a:t>p95 par heure vs cibles, heures ouvrées vs non ; sondes actives</a:t>
                      </a:r>
                    </a:p>
                  </a:txBody>
                  <a:tcPr marL="73152" marR="73152" marT="27432" marB="27432" anchor="ctr">
                    <a:solidFill>
                      <a:srgbClr val="F3F5F8"/>
                    </a:solidFill>
                  </a:tcPr>
                </a:tc>
                <a:tc>
                  <a:txBody>
                    <a:bodyPr wrap="square"/>
                    <a:lstStyle/>
                    <a:p>
                      <a:r>
                        <a:rPr sz="1100" b="0">
                          <a:solidFill>
                            <a:srgbClr val="111B2E"/>
                          </a:solidFill>
                          <a:latin typeface="Calibri"/>
                        </a:rPr>
                        <a:t>nGeniusONE · Riverbed</a:t>
                      </a:r>
                    </a:p>
                  </a:txBody>
                  <a:tcPr marL="73152" marR="73152" marT="27432" marB="27432" anchor="ctr">
                    <a:solidFill>
                      <a:srgbClr val="F3F5F8"/>
                    </a:solidFill>
                  </a:tcPr>
                </a:tc>
              </a:tr>
              <a:tr h="411480">
                <a:tc>
                  <a:txBody>
                    <a:bodyPr wrap="square"/>
                    <a:lstStyle/>
                    <a:p>
                      <a:r>
                        <a:rPr sz="1100" b="1">
                          <a:solidFill>
                            <a:srgbClr val="111B2E"/>
                          </a:solidFill>
                          <a:latin typeface="Calibri"/>
                        </a:rPr>
                        <a:t>Dictionnaire applicatif</a:t>
                      </a:r>
                    </a:p>
                  </a:txBody>
                  <a:tcPr marL="73152" marR="73152" marT="27432" marB="27432" anchor="ctr">
                    <a:solidFill>
                      <a:srgbClr val="FFFFFF"/>
                    </a:solidFill>
                  </a:tcPr>
                </a:tc>
                <a:tc>
                  <a:txBody>
                    <a:bodyPr wrap="square"/>
                    <a:lstStyle/>
                    <a:p>
                      <a:r>
                        <a:rPr sz="1100" b="0">
                          <a:solidFill>
                            <a:srgbClr val="111B2E"/>
                          </a:solidFill>
                          <a:latin typeface="Calibri"/>
                        </a:rPr>
                        <a:t>SNI / domaine → application + nDPI (ntopng)</a:t>
                      </a:r>
                    </a:p>
                  </a:txBody>
                  <a:tcPr marL="73152" marR="73152" marT="27432" marB="27432" anchor="ctr">
                    <a:solidFill>
                      <a:srgbClr val="FFFFFF"/>
                    </a:solidFill>
                  </a:tcPr>
                </a:tc>
                <a:tc>
                  <a:txBody>
                    <a:bodyPr wrap="square"/>
                    <a:lstStyle/>
                    <a:p>
                      <a:r>
                        <a:rPr sz="1100" b="0">
                          <a:solidFill>
                            <a:srgbClr val="111B2E"/>
                          </a:solidFill>
                          <a:latin typeface="Calibri"/>
                        </a:rPr>
                        <a:t>Riverbed AppFlow (1300 sign.) · Netscout DPI</a:t>
                      </a:r>
                    </a:p>
                  </a:txBody>
                  <a:tcPr marL="73152" marR="73152" marT="27432" marB="27432" anchor="ctr">
                    <a:solidFill>
                      <a:srgbClr val="FFFFFF"/>
                    </a:solidFill>
                  </a:tcPr>
                </a:tc>
              </a:tr>
              <a:tr h="411480">
                <a:tc>
                  <a:txBody>
                    <a:bodyPr wrap="square"/>
                    <a:lstStyle/>
                    <a:p>
                      <a:r>
                        <a:rPr sz="1100" b="1">
                          <a:solidFill>
                            <a:srgbClr val="111B2E"/>
                          </a:solidFill>
                          <a:latin typeface="Calibri"/>
                        </a:rPr>
                        <a:t>Full packet capture</a:t>
                      </a:r>
                    </a:p>
                  </a:txBody>
                  <a:tcPr marL="73152" marR="73152" marT="27432" marB="27432" anchor="ctr">
                    <a:solidFill>
                      <a:srgbClr val="F3F5F8"/>
                    </a:solidFill>
                  </a:tcPr>
                </a:tc>
                <a:tc>
                  <a:txBody>
                    <a:bodyPr wrap="square"/>
                    <a:lstStyle/>
                    <a:p>
                      <a:r>
                        <a:rPr sz="1100" b="0">
                          <a:solidFill>
                            <a:srgbClr val="111B2E"/>
                          </a:solidFill>
                          <a:latin typeface="Calibri"/>
                        </a:rPr>
                        <a:t>Arkime (sessions indexées, export PCAP)</a:t>
                      </a:r>
                    </a:p>
                  </a:txBody>
                  <a:tcPr marL="73152" marR="73152" marT="27432" marB="27432" anchor="ctr">
                    <a:solidFill>
                      <a:srgbClr val="F3F5F8"/>
                    </a:solidFill>
                  </a:tcPr>
                </a:tc>
                <a:tc>
                  <a:txBody>
                    <a:bodyPr wrap="square"/>
                    <a:lstStyle/>
                    <a:p>
                      <a:r>
                        <a:rPr sz="1100" b="0">
                          <a:solidFill>
                            <a:srgbClr val="111B2E"/>
                          </a:solidFill>
                          <a:latin typeface="Calibri"/>
                        </a:rPr>
                        <a:t>InfiniStreamNG · Gigamon</a:t>
                      </a:r>
                    </a:p>
                  </a:txBody>
                  <a:tcPr marL="73152" marR="73152" marT="27432" marB="27432" anchor="ctr">
                    <a:solidFill>
                      <a:srgbClr val="F3F5F8"/>
                    </a:solidFill>
                  </a:tcPr>
                </a:tc>
              </a:tr>
              <a:tr h="411480">
                <a:tc>
                  <a:txBody>
                    <a:bodyPr wrap="square"/>
                    <a:lstStyle/>
                    <a:p>
                      <a:r>
                        <a:rPr sz="1100" b="1">
                          <a:solidFill>
                            <a:srgbClr val="111B2E"/>
                          </a:solidFill>
                          <a:latin typeface="Calibri"/>
                        </a:rPr>
                        <a:t>Qualité VoIP</a:t>
                      </a:r>
                    </a:p>
                  </a:txBody>
                  <a:tcPr marL="73152" marR="73152" marT="27432" marB="27432" anchor="ctr">
                    <a:solidFill>
                      <a:srgbClr val="FFFFFF"/>
                    </a:solidFill>
                  </a:tcPr>
                </a:tc>
                <a:tc>
                  <a:txBody>
                    <a:bodyPr wrap="square"/>
                    <a:lstStyle/>
                    <a:p>
                      <a:r>
                        <a:rPr sz="1100" b="0">
                          <a:solidFill>
                            <a:srgbClr val="111B2E"/>
                          </a:solidFill>
                          <a:latin typeface="Calibri"/>
                        </a:rPr>
                        <a:t>SIP/RTP Zeek → MOS E-model G.107</a:t>
                      </a:r>
                    </a:p>
                  </a:txBody>
                  <a:tcPr marL="73152" marR="73152" marT="27432" marB="27432" anchor="ctr">
                    <a:solidFill>
                      <a:srgbClr val="FFFFFF"/>
                    </a:solidFill>
                  </a:tcPr>
                </a:tc>
                <a:tc>
                  <a:txBody>
                    <a:bodyPr wrap="square"/>
                    <a:lstStyle/>
                    <a:p>
                      <a:r>
                        <a:rPr sz="1100" b="0">
                          <a:solidFill>
                            <a:srgbClr val="111B2E"/>
                          </a:solidFill>
                          <a:latin typeface="Calibri"/>
                        </a:rPr>
                        <a:t>InfiniStreamNG · Empirix</a:t>
                      </a:r>
                    </a:p>
                  </a:txBody>
                  <a:tcPr marL="73152" marR="73152" marT="27432" marB="27432" anchor="ctr">
                    <a:solidFill>
                      <a:srgbClr val="FFFFFF"/>
                    </a:solidFill>
                  </a:tcPr>
                </a:tc>
              </a:tr>
              <a:tr h="411480">
                <a:tc>
                  <a:txBody>
                    <a:bodyPr wrap="square"/>
                    <a:lstStyle/>
                    <a:p>
                      <a:r>
                        <a:rPr sz="1100" b="1">
                          <a:solidFill>
                            <a:srgbClr val="111B2E"/>
                          </a:solidFill>
                          <a:latin typeface="Calibri"/>
                        </a:rPr>
                        <a:t>Coût de licence</a:t>
                      </a:r>
                    </a:p>
                  </a:txBody>
                  <a:tcPr marL="73152" marR="73152" marT="27432" marB="27432" anchor="ctr">
                    <a:solidFill>
                      <a:srgbClr val="F3F5F8"/>
                    </a:solidFill>
                  </a:tcPr>
                </a:tc>
                <a:tc>
                  <a:txBody>
                    <a:bodyPr wrap="square"/>
                    <a:lstStyle/>
                    <a:p>
                      <a:r>
                        <a:rPr sz="1100" b="0">
                          <a:solidFill>
                            <a:srgbClr val="111B2E"/>
                          </a:solidFill>
                          <a:latin typeface="Calibri"/>
                        </a:rPr>
                        <a:t>0 € (Community AGPL) ; Pro = support + fonctions avancées</a:t>
                      </a:r>
                    </a:p>
                  </a:txBody>
                  <a:tcPr marL="73152" marR="73152" marT="27432" marB="27432" anchor="ctr">
                    <a:solidFill>
                      <a:srgbClr val="F3F5F8"/>
                    </a:solidFill>
                  </a:tcPr>
                </a:tc>
                <a:tc>
                  <a:txBody>
                    <a:bodyPr wrap="square"/>
                    <a:lstStyle/>
                    <a:p>
                      <a:r>
                        <a:rPr sz="1100" b="0">
                          <a:solidFill>
                            <a:srgbClr val="111B2E"/>
                          </a:solidFill>
                          <a:latin typeface="Calibri"/>
                        </a:rPr>
                        <a:t>10 000 – 100 000+ € / an / sonde</a:t>
                      </a:r>
                    </a:p>
                  </a:txBody>
                  <a:tcPr marL="73152" marR="73152" marT="27432" marB="27432" anchor="ctr">
                    <a:solidFill>
                      <a:srgbClr val="F3F5F8"/>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13</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Souveraineté · exploitation · conformité</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Ce qu'un déploiement chez BP2i implique concrètement</a:t>
            </a:r>
          </a:p>
        </p:txBody>
      </p:sp>
      <p:sp>
        <p:nvSpPr>
          <p:cNvPr id="6" name="Rounded Rectangle 5"/>
          <p:cNvSpPr/>
          <p:nvPr/>
        </p:nvSpPr>
        <p:spPr>
          <a:xfrm>
            <a:off x="548640" y="1645920"/>
            <a:ext cx="3566160" cy="33832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810512"/>
            <a:ext cx="3154679"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Souveraineté</a:t>
            </a:r>
          </a:p>
        </p:txBody>
      </p:sp>
      <p:sp>
        <p:nvSpPr>
          <p:cNvPr id="8" name="TextBox 7"/>
          <p:cNvSpPr txBox="1"/>
          <p:nvPr/>
        </p:nvSpPr>
        <p:spPr>
          <a:xfrm>
            <a:off x="731520" y="2304288"/>
            <a:ext cx="3200400" cy="2606040"/>
          </a:xfrm>
          <a:prstGeom prst="rect">
            <a:avLst/>
          </a:prstGeom>
          <a:noFill/>
        </p:spPr>
        <p:txBody>
          <a:bodyPr wrap="square" lIns="45720" rIns="45720" tIns="27432" bIns="27432">
            <a:spAutoFit/>
          </a:bodyPr>
          <a:lstStyle/>
          <a:p>
            <a:pPr>
              <a:lnSpc>
                <a:spcPct val="108000"/>
              </a:lnSpc>
              <a:spcAft>
                <a:spcPts val="400"/>
              </a:spcAft>
            </a:pPr>
            <a:r>
              <a:rPr sz="1200" b="1">
                <a:solidFill>
                  <a:srgbClr val="0EA5C0"/>
                </a:solidFill>
                <a:latin typeface="Calibri"/>
              </a:rPr>
              <a:t>▸ </a:t>
            </a:r>
            <a:r>
              <a:rPr sz="1200" b="0" i="0">
                <a:solidFill>
                  <a:srgbClr val="111B2E"/>
                </a:solidFill>
                <a:latin typeface="Calibri"/>
              </a:rPr>
              <a:t>100 % on-prem : stockage, analyse, restitution sur la sonde</a:t>
            </a:r>
          </a:p>
          <a:p>
            <a:pPr>
              <a:lnSpc>
                <a:spcPct val="108000"/>
              </a:lnSpc>
              <a:spcAft>
                <a:spcPts val="400"/>
              </a:spcAft>
            </a:pPr>
            <a:r>
              <a:rPr sz="1200" b="1">
                <a:solidFill>
                  <a:srgbClr val="0EA5C0"/>
                </a:solidFill>
                <a:latin typeface="Calibri"/>
              </a:rPr>
              <a:t>▸ </a:t>
            </a:r>
            <a:r>
              <a:rPr sz="1200" b="0" i="0">
                <a:solidFill>
                  <a:srgbClr val="111B2E"/>
                </a:solidFill>
                <a:latin typeface="Calibri"/>
              </a:rPr>
              <a:t>aucune télémétrie, aucun appel sortant (GeoIP et threat intel = fichiers locaux, mise à jour maîtrisée)</a:t>
            </a:r>
          </a:p>
          <a:p>
            <a:pPr>
              <a:lnSpc>
                <a:spcPct val="108000"/>
              </a:lnSpc>
              <a:spcAft>
                <a:spcPts val="400"/>
              </a:spcAft>
            </a:pPr>
            <a:r>
              <a:rPr sz="1200" b="1">
                <a:solidFill>
                  <a:srgbClr val="0EA5C0"/>
                </a:solidFill>
                <a:latin typeface="Calibri"/>
              </a:rPr>
              <a:t>▸ </a:t>
            </a:r>
            <a:r>
              <a:rPr sz="1200" b="0" i="0">
                <a:solidFill>
                  <a:srgbClr val="111B2E"/>
                </a:solidFill>
                <a:latin typeface="Calibri"/>
              </a:rPr>
              <a:t>IA d'aide à l'analyse en local (Ollama) — désactivable</a:t>
            </a:r>
          </a:p>
          <a:p>
            <a:pPr>
              <a:lnSpc>
                <a:spcPct val="108000"/>
              </a:lnSpc>
              <a:spcAft>
                <a:spcPts val="400"/>
              </a:spcAft>
            </a:pPr>
            <a:r>
              <a:rPr sz="1200" b="1">
                <a:solidFill>
                  <a:srgbClr val="0EA5C0"/>
                </a:solidFill>
                <a:latin typeface="Calibri"/>
              </a:rPr>
              <a:t>▸ </a:t>
            </a:r>
            <a:r>
              <a:rPr sz="1200" b="0" i="0">
                <a:solidFill>
                  <a:srgbClr val="111B2E"/>
                </a:solidFill>
                <a:latin typeface="Calibri"/>
              </a:rPr>
              <a:t>code AGPL v3 : auditable, forkable, pas de dépendance éditeur</a:t>
            </a:r>
          </a:p>
          <a:p>
            <a:pPr>
              <a:lnSpc>
                <a:spcPct val="108000"/>
              </a:lnSpc>
              <a:spcAft>
                <a:spcPts val="400"/>
              </a:spcAft>
            </a:pPr>
            <a:r>
              <a:rPr sz="1200" b="1">
                <a:solidFill>
                  <a:srgbClr val="0EA5C0"/>
                </a:solidFill>
                <a:latin typeface="Calibri"/>
              </a:rPr>
              <a:t>▸ </a:t>
            </a:r>
            <a:r>
              <a:rPr sz="1200" b="0" i="0">
                <a:solidFill>
                  <a:srgbClr val="111B2E"/>
                </a:solidFill>
                <a:latin typeface="Calibri"/>
              </a:rPr>
              <a:t>briques standard : Zeek, Suricata, Elasticsearch, Prometheus, Grafana</a:t>
            </a:r>
          </a:p>
        </p:txBody>
      </p:sp>
      <p:sp>
        <p:nvSpPr>
          <p:cNvPr id="9" name="Rounded Rectangle 8"/>
          <p:cNvSpPr/>
          <p:nvPr/>
        </p:nvSpPr>
        <p:spPr>
          <a:xfrm>
            <a:off x="4315968" y="1645920"/>
            <a:ext cx="3566160" cy="338328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44568" y="1810512"/>
            <a:ext cx="3154679"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Exploitation</a:t>
            </a:r>
          </a:p>
        </p:txBody>
      </p:sp>
      <p:sp>
        <p:nvSpPr>
          <p:cNvPr id="11" name="TextBox 10"/>
          <p:cNvSpPr txBox="1"/>
          <p:nvPr/>
        </p:nvSpPr>
        <p:spPr>
          <a:xfrm>
            <a:off x="4498848" y="2304288"/>
            <a:ext cx="3200400" cy="2606040"/>
          </a:xfrm>
          <a:prstGeom prst="rect">
            <a:avLst/>
          </a:prstGeom>
          <a:noFill/>
        </p:spPr>
        <p:txBody>
          <a:bodyPr wrap="square" lIns="45720" rIns="45720" tIns="27432" bIns="27432">
            <a:spAutoFit/>
          </a:bodyPr>
          <a:lstStyle/>
          <a:p>
            <a:pPr>
              <a:lnSpc>
                <a:spcPct val="108000"/>
              </a:lnSpc>
              <a:spcAft>
                <a:spcPts val="400"/>
              </a:spcAft>
            </a:pPr>
            <a:r>
              <a:rPr sz="1200" b="1">
                <a:solidFill>
                  <a:srgbClr val="0EA5C0"/>
                </a:solidFill>
                <a:latin typeface="Calibri"/>
              </a:rPr>
              <a:t>▸ </a:t>
            </a:r>
            <a:r>
              <a:rPr sz="1200" b="0" i="0">
                <a:solidFill>
                  <a:srgbClr val="111B2E"/>
                </a:solidFill>
                <a:latin typeface="Calibri"/>
              </a:rPr>
              <a:t>install.sh : Docker, prérequis noyau, secrets générés, interface détectée, service systemd</a:t>
            </a:r>
          </a:p>
          <a:p>
            <a:pPr>
              <a:lnSpc>
                <a:spcPct val="108000"/>
              </a:lnSpc>
              <a:spcAft>
                <a:spcPts val="400"/>
              </a:spcAft>
            </a:pPr>
            <a:r>
              <a:rPr sz="1200" b="1">
                <a:solidFill>
                  <a:srgbClr val="0EA5C0"/>
                </a:solidFill>
                <a:latin typeface="Calibri"/>
              </a:rPr>
              <a:t>▸ </a:t>
            </a:r>
            <a:r>
              <a:rPr sz="1200" b="0" i="0">
                <a:solidFill>
                  <a:srgbClr val="111B2E"/>
                </a:solidFill>
                <a:latin typeface="Calibri"/>
              </a:rPr>
              <a:t>HTTPS unique (Caddy) : TLS interne, Let's Encrypt ou certificat fourni ; auth unifiée</a:t>
            </a:r>
          </a:p>
          <a:p>
            <a:pPr>
              <a:lnSpc>
                <a:spcPct val="108000"/>
              </a:lnSpc>
              <a:spcAft>
                <a:spcPts val="400"/>
              </a:spcAft>
            </a:pPr>
            <a:r>
              <a:rPr sz="1200" b="1">
                <a:solidFill>
                  <a:srgbClr val="0EA5C0"/>
                </a:solidFill>
                <a:latin typeface="Calibri"/>
              </a:rPr>
              <a:t>▸ </a:t>
            </a:r>
            <a:r>
              <a:rPr sz="1200" b="0" i="0">
                <a:solidFill>
                  <a:srgbClr val="111B2E"/>
                </a:solidFill>
                <a:latin typeface="Calibri"/>
              </a:rPr>
              <a:t>backup.sh / restore.sh (config + snapshot ES), upgrade.sh versionné, CHANGELOG</a:t>
            </a:r>
          </a:p>
          <a:p>
            <a:pPr>
              <a:lnSpc>
                <a:spcPct val="108000"/>
              </a:lnSpc>
              <a:spcAft>
                <a:spcPts val="400"/>
              </a:spcAft>
            </a:pPr>
            <a:r>
              <a:rPr sz="1200" b="1">
                <a:solidFill>
                  <a:srgbClr val="0EA5C0"/>
                </a:solidFill>
                <a:latin typeface="Calibri"/>
              </a:rPr>
              <a:t>▸ </a:t>
            </a:r>
            <a:r>
              <a:rPr sz="1200" b="0" i="0">
                <a:solidFill>
                  <a:srgbClr val="111B2E"/>
                </a:solidFill>
                <a:latin typeface="Calibri"/>
              </a:rPr>
              <a:t>make health : exit code 0/1/2 pour votre supervision ; 140+ tests, CI</a:t>
            </a:r>
          </a:p>
          <a:p>
            <a:pPr>
              <a:lnSpc>
                <a:spcPct val="108000"/>
              </a:lnSpc>
              <a:spcAft>
                <a:spcPts val="400"/>
              </a:spcAft>
            </a:pPr>
            <a:r>
              <a:rPr sz="1200" b="1">
                <a:solidFill>
                  <a:srgbClr val="0EA5C0"/>
                </a:solidFill>
                <a:latin typeface="Calibri"/>
              </a:rPr>
              <a:t>▸ </a:t>
            </a:r>
            <a:r>
              <a:rPr sz="1200" b="0" i="0">
                <a:solidFill>
                  <a:srgbClr val="111B2E"/>
                </a:solidFill>
                <a:latin typeface="Calibri"/>
              </a:rPr>
              <a:t>2 VM Sensors / Data si le port SPAN et le stockage doivent être séparés</a:t>
            </a:r>
          </a:p>
        </p:txBody>
      </p:sp>
      <p:sp>
        <p:nvSpPr>
          <p:cNvPr id="12" name="Rounded Rectangle 11"/>
          <p:cNvSpPr/>
          <p:nvPr/>
        </p:nvSpPr>
        <p:spPr>
          <a:xfrm>
            <a:off x="8083296" y="1645920"/>
            <a:ext cx="3566160" cy="338328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11896" y="1810512"/>
            <a:ext cx="3154679" cy="45720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Conformité</a:t>
            </a:r>
          </a:p>
        </p:txBody>
      </p:sp>
      <p:sp>
        <p:nvSpPr>
          <p:cNvPr id="14" name="TextBox 13"/>
          <p:cNvSpPr txBox="1"/>
          <p:nvPr/>
        </p:nvSpPr>
        <p:spPr>
          <a:xfrm>
            <a:off x="8266175" y="2304288"/>
            <a:ext cx="3200400" cy="2606040"/>
          </a:xfrm>
          <a:prstGeom prst="rect">
            <a:avLst/>
          </a:prstGeom>
          <a:noFill/>
        </p:spPr>
        <p:txBody>
          <a:bodyPr wrap="square" lIns="45720" rIns="45720" tIns="27432" bIns="27432">
            <a:spAutoFit/>
          </a:bodyPr>
          <a:lstStyle/>
          <a:p>
            <a:pPr>
              <a:lnSpc>
                <a:spcPct val="108000"/>
              </a:lnSpc>
              <a:spcAft>
                <a:spcPts val="400"/>
              </a:spcAft>
            </a:pPr>
            <a:r>
              <a:rPr sz="1200" b="1">
                <a:solidFill>
                  <a:srgbClr val="0EA5C0"/>
                </a:solidFill>
                <a:latin typeface="Calibri"/>
              </a:rPr>
              <a:t>▸ </a:t>
            </a:r>
            <a:r>
              <a:rPr sz="1200" b="0" i="0">
                <a:solidFill>
                  <a:srgbClr val="111B2E"/>
                </a:solidFill>
                <a:latin typeface="Calibri"/>
              </a:rPr>
              <a:t>DORA art. 9 (protection &amp; prévention) et 10 (détection) : surveillance continue, journalisation, alerting</a:t>
            </a:r>
          </a:p>
          <a:p>
            <a:pPr>
              <a:lnSpc>
                <a:spcPct val="108000"/>
              </a:lnSpc>
              <a:spcAft>
                <a:spcPts val="400"/>
              </a:spcAft>
            </a:pPr>
            <a:r>
              <a:rPr sz="1200" b="1">
                <a:solidFill>
                  <a:srgbClr val="0EA5C0"/>
                </a:solidFill>
                <a:latin typeface="Calibri"/>
              </a:rPr>
              <a:t>▸ </a:t>
            </a:r>
            <a:r>
              <a:rPr sz="1200" b="0" i="0">
                <a:solidFill>
                  <a:srgbClr val="111B2E"/>
                </a:solidFill>
                <a:latin typeface="Calibri"/>
              </a:rPr>
              <a:t>NIS2 : détection, réponse, preuve (PCAP, logs horodatés)</a:t>
            </a:r>
          </a:p>
          <a:p>
            <a:pPr>
              <a:lnSpc>
                <a:spcPct val="108000"/>
              </a:lnSpc>
              <a:spcAft>
                <a:spcPts val="400"/>
              </a:spcAft>
            </a:pPr>
            <a:r>
              <a:rPr sz="1200" b="1">
                <a:solidFill>
                  <a:srgbClr val="0EA5C0"/>
                </a:solidFill>
                <a:latin typeface="Calibri"/>
              </a:rPr>
              <a:t>▸ </a:t>
            </a:r>
            <a:r>
              <a:rPr sz="1200" b="0" i="0">
                <a:solidFill>
                  <a:srgbClr val="111B2E"/>
                </a:solidFill>
                <a:latin typeface="Calibri"/>
              </a:rPr>
              <a:t>matrices NIS2 · NIST CSF 2.0 · ANSSI · ISO 27001 dans le portail (/compliance)</a:t>
            </a:r>
          </a:p>
          <a:p>
            <a:pPr>
              <a:lnSpc>
                <a:spcPct val="108000"/>
              </a:lnSpc>
              <a:spcAft>
                <a:spcPts val="400"/>
              </a:spcAft>
            </a:pPr>
            <a:r>
              <a:rPr sz="1200" b="1">
                <a:solidFill>
                  <a:srgbClr val="0EA5C0"/>
                </a:solidFill>
                <a:latin typeface="Calibri"/>
              </a:rPr>
              <a:t>▸ </a:t>
            </a:r>
            <a:r>
              <a:rPr sz="1200" b="0" i="0">
                <a:solidFill>
                  <a:srgbClr val="111B2E"/>
                </a:solidFill>
                <a:latin typeface="Calibri"/>
              </a:rPr>
              <a:t>rapport exécutif PDF à la demande, historique</a:t>
            </a:r>
          </a:p>
          <a:p>
            <a:pPr>
              <a:lnSpc>
                <a:spcPct val="108000"/>
              </a:lnSpc>
              <a:spcAft>
                <a:spcPts val="400"/>
              </a:spcAft>
            </a:pPr>
            <a:r>
              <a:rPr sz="1200" b="1">
                <a:solidFill>
                  <a:srgbClr val="0EA5C0"/>
                </a:solidFill>
                <a:latin typeface="Calibri"/>
              </a:rPr>
              <a:t>▸ </a:t>
            </a:r>
            <a:r>
              <a:rPr sz="1200" b="0" i="0">
                <a:solidFill>
                  <a:srgbClr val="111B2E"/>
                </a:solidFill>
                <a:latin typeface="Calibri"/>
              </a:rPr>
              <a:t>à cadrer avec vous : durcissement, comptes nominatifs, rétention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14</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Ce que NetWatch ne fait pas</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Les limites, avant que vous ne les trouviez vous-mêmes</a:t>
            </a:r>
          </a:p>
        </p:txBody>
      </p:sp>
      <p:sp>
        <p:nvSpPr>
          <p:cNvPr id="6" name="Rounded Rectangle 5"/>
          <p:cNvSpPr/>
          <p:nvPr/>
        </p:nvSpPr>
        <p:spPr>
          <a:xfrm>
            <a:off x="548640" y="1645920"/>
            <a:ext cx="5468112" cy="128016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828800"/>
            <a:ext cx="310896" cy="310896"/>
          </a:xfrm>
          <a:prstGeom prst="ellipse">
            <a:avLst/>
          </a:prstGeom>
          <a:solidFill>
            <a:srgbClr val="C8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70432" y="1764792"/>
            <a:ext cx="466344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Support éditeur &amp; garanties</a:t>
            </a:r>
          </a:p>
        </p:txBody>
      </p:sp>
      <p:sp>
        <p:nvSpPr>
          <p:cNvPr id="9" name="TextBox 8"/>
          <p:cNvSpPr txBox="1"/>
          <p:nvPr/>
        </p:nvSpPr>
        <p:spPr>
          <a:xfrm>
            <a:off x="1170432" y="2148840"/>
            <a:ext cx="4663440" cy="73152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pas de SLA contractuel ni de TAM. Le support est porté par Axians (édition Pro) — à contractualiser.</a:t>
            </a:r>
          </a:p>
        </p:txBody>
      </p:sp>
      <p:sp>
        <p:nvSpPr>
          <p:cNvPr id="10" name="Rounded Rectangle 9"/>
          <p:cNvSpPr/>
          <p:nvPr/>
        </p:nvSpPr>
        <p:spPr>
          <a:xfrm>
            <a:off x="6172200" y="1645920"/>
            <a:ext cx="5468112" cy="128016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55080" y="1828800"/>
            <a:ext cx="310896" cy="310896"/>
          </a:xfrm>
          <a:prstGeom prst="ellipse">
            <a:avLst/>
          </a:prstGeom>
          <a:solidFill>
            <a:srgbClr val="C8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793992" y="1764792"/>
            <a:ext cx="466344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Échelle</a:t>
            </a:r>
          </a:p>
        </p:txBody>
      </p:sp>
      <p:sp>
        <p:nvSpPr>
          <p:cNvPr id="13" name="TextBox 12"/>
          <p:cNvSpPr txBox="1"/>
          <p:nvPr/>
        </p:nvSpPr>
        <p:spPr>
          <a:xfrm>
            <a:off x="6793992" y="2148840"/>
            <a:ext cx="4663440" cy="73152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1 sonde ≈ 1 site ; validé sur du trafic PME/labo, pas en multi-Tbps. Pas de sonde matérielle, pas d'agrégation de trafic type Gigamon.</a:t>
            </a:r>
          </a:p>
        </p:txBody>
      </p:sp>
      <p:sp>
        <p:nvSpPr>
          <p:cNvPr id="14" name="Rounded Rectangle 13"/>
          <p:cNvSpPr/>
          <p:nvPr/>
        </p:nvSpPr>
        <p:spPr>
          <a:xfrm>
            <a:off x="548640" y="3108960"/>
            <a:ext cx="5468112" cy="128016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3291840"/>
            <a:ext cx="310896" cy="310896"/>
          </a:xfrm>
          <a:prstGeom prst="ellipse">
            <a:avLst/>
          </a:prstGeom>
          <a:solidFill>
            <a:srgbClr val="C8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170432" y="3227832"/>
            <a:ext cx="466344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DPI propriétaire</a:t>
            </a:r>
          </a:p>
        </p:txBody>
      </p:sp>
      <p:sp>
        <p:nvSpPr>
          <p:cNvPr id="17" name="TextBox 16"/>
          <p:cNvSpPr txBox="1"/>
          <p:nvPr/>
        </p:nvSpPr>
        <p:spPr>
          <a:xfrm>
            <a:off x="1170432" y="3611880"/>
            <a:ext cx="4663440" cy="73152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classification par SNI/domaine + nDPI : 70–80 % des cas d'usage ; pas les 1 300 signatures d'un Riverbed AppFlow.</a:t>
            </a:r>
          </a:p>
        </p:txBody>
      </p:sp>
      <p:sp>
        <p:nvSpPr>
          <p:cNvPr id="18" name="Rounded Rectangle 17"/>
          <p:cNvSpPr/>
          <p:nvPr/>
        </p:nvSpPr>
        <p:spPr>
          <a:xfrm>
            <a:off x="6172200" y="3108960"/>
            <a:ext cx="5468112" cy="128016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55080" y="3291840"/>
            <a:ext cx="310896" cy="310896"/>
          </a:xfrm>
          <a:prstGeom prst="ellipse">
            <a:avLst/>
          </a:prstGeom>
          <a:solidFill>
            <a:srgbClr val="C8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93992" y="3227832"/>
            <a:ext cx="466344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Métriques TCP fines</a:t>
            </a:r>
          </a:p>
        </p:txBody>
      </p:sp>
      <p:sp>
        <p:nvSpPr>
          <p:cNvPr id="21" name="TextBox 20"/>
          <p:cNvSpPr txBox="1"/>
          <p:nvPr/>
        </p:nvSpPr>
        <p:spPr>
          <a:xfrm>
            <a:off x="6793992" y="3611880"/>
            <a:ext cx="4663440" cy="73152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zero-window en occurrence, pas en durée ; RTT estimé à la position du SPAN, pas côté client.</a:t>
            </a:r>
          </a:p>
        </p:txBody>
      </p:sp>
      <p:sp>
        <p:nvSpPr>
          <p:cNvPr id="22" name="Rounded Rectangle 21"/>
          <p:cNvSpPr/>
          <p:nvPr/>
        </p:nvSpPr>
        <p:spPr>
          <a:xfrm>
            <a:off x="548640" y="4572000"/>
            <a:ext cx="5468112" cy="128016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4754880"/>
            <a:ext cx="310896" cy="310896"/>
          </a:xfrm>
          <a:prstGeom prst="ellipse">
            <a:avLst/>
          </a:prstGeom>
          <a:solidFill>
            <a:srgbClr val="C8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170432" y="4690872"/>
            <a:ext cx="466344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Certification produit</a:t>
            </a:r>
          </a:p>
        </p:txBody>
      </p:sp>
      <p:sp>
        <p:nvSpPr>
          <p:cNvPr id="25" name="TextBox 24"/>
          <p:cNvSpPr txBox="1"/>
          <p:nvPr/>
        </p:nvSpPr>
        <p:spPr>
          <a:xfrm>
            <a:off x="1170432" y="5074920"/>
            <a:ext cx="4663440" cy="73152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aucune certification ANSSI / Critères Communs ; durcissement à votre charge selon vos standards.</a:t>
            </a:r>
          </a:p>
        </p:txBody>
      </p:sp>
      <p:sp>
        <p:nvSpPr>
          <p:cNvPr id="26" name="Rounded Rectangle 25"/>
          <p:cNvSpPr/>
          <p:nvPr/>
        </p:nvSpPr>
        <p:spPr>
          <a:xfrm>
            <a:off x="6172200" y="4572000"/>
            <a:ext cx="5468112" cy="1280160"/>
          </a:xfrm>
          <a:prstGeom prst="roundRect">
            <a:avLst>
              <a:gd name="adj" fmla="val 8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55080" y="4754880"/>
            <a:ext cx="310896" cy="310896"/>
          </a:xfrm>
          <a:prstGeom prst="ellipse">
            <a:avLst/>
          </a:prstGeom>
          <a:solidFill>
            <a:srgbClr val="C83E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793992" y="4690872"/>
            <a:ext cx="466344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Maturité</a:t>
            </a:r>
          </a:p>
        </p:txBody>
      </p:sp>
      <p:sp>
        <p:nvSpPr>
          <p:cNvPr id="29" name="TextBox 28"/>
          <p:cNvSpPr txBox="1"/>
          <p:nvPr/>
        </p:nvSpPr>
        <p:spPr>
          <a:xfrm>
            <a:off x="6793992" y="5074920"/>
            <a:ext cx="4663440" cy="73152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v2.1 — validé en labo et sur Proxmox ; premier pilote client à faire. Multi-utilisateurs / RBAC prévus, pas livrés.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15</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Proposition : un pilote de 6 semaines</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Un périmètre que vous n'instrumentez pas aujourd'hui, une VM, un port SPAN — et des critères de succès fixés au départ</a:t>
            </a:r>
          </a:p>
        </p:txBody>
      </p:sp>
      <p:sp>
        <p:nvSpPr>
          <p:cNvPr id="6" name="Rounded Rectangle 5"/>
          <p:cNvSpPr/>
          <p:nvPr/>
        </p:nvSpPr>
        <p:spPr>
          <a:xfrm>
            <a:off x="548640" y="1691640"/>
            <a:ext cx="2651760" cy="237744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828800"/>
            <a:ext cx="2286000" cy="411480"/>
          </a:xfrm>
          <a:prstGeom prst="rect">
            <a:avLst/>
          </a:prstGeom>
          <a:noFill/>
        </p:spPr>
        <p:txBody>
          <a:bodyPr wrap="square" lIns="45720" rIns="45720" tIns="27432" bIns="27432" anchor="t">
            <a:spAutoFit/>
          </a:bodyPr>
          <a:lstStyle/>
          <a:p>
            <a:pPr algn="l">
              <a:lnSpc>
                <a:spcPct val="110000"/>
              </a:lnSpc>
              <a:spcAft>
                <a:spcPts val="400"/>
              </a:spcAft>
            </a:pPr>
            <a:r>
              <a:rPr sz="2000" b="1" i="0">
                <a:solidFill>
                  <a:srgbClr val="0EA5C0"/>
                </a:solidFill>
                <a:latin typeface="Calibri"/>
              </a:rPr>
              <a:t>S1</a:t>
            </a:r>
          </a:p>
        </p:txBody>
      </p:sp>
      <p:sp>
        <p:nvSpPr>
          <p:cNvPr id="8" name="TextBox 7"/>
          <p:cNvSpPr txBox="1"/>
          <p:nvPr/>
        </p:nvSpPr>
        <p:spPr>
          <a:xfrm>
            <a:off x="731520" y="2240280"/>
            <a:ext cx="2286000" cy="36576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Cadrage</a:t>
            </a:r>
          </a:p>
        </p:txBody>
      </p:sp>
      <p:sp>
        <p:nvSpPr>
          <p:cNvPr id="9" name="TextBox 8"/>
          <p:cNvSpPr txBox="1"/>
          <p:nvPr/>
        </p:nvSpPr>
        <p:spPr>
          <a:xfrm>
            <a:off x="731520" y="2651760"/>
            <a:ext cx="2286000" cy="137160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choix du périmètre (agence, lab ou préprod), port SPAN / export NetFlow, VM 4 vCPU · 16 Go, comptes</a:t>
            </a:r>
          </a:p>
        </p:txBody>
      </p:sp>
      <p:sp>
        <p:nvSpPr>
          <p:cNvPr id="10" name="Right Arrow 9"/>
          <p:cNvSpPr/>
          <p:nvPr/>
        </p:nvSpPr>
        <p:spPr>
          <a:xfrm>
            <a:off x="3218688" y="2697480"/>
            <a:ext cx="164592" cy="256032"/>
          </a:xfrm>
          <a:prstGeom prst="rightArrow">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364992" y="1691640"/>
            <a:ext cx="2651760" cy="23774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47872" y="1828800"/>
            <a:ext cx="2286000" cy="411480"/>
          </a:xfrm>
          <a:prstGeom prst="rect">
            <a:avLst/>
          </a:prstGeom>
          <a:noFill/>
        </p:spPr>
        <p:txBody>
          <a:bodyPr wrap="square" lIns="45720" rIns="45720" tIns="27432" bIns="27432" anchor="t">
            <a:spAutoFit/>
          </a:bodyPr>
          <a:lstStyle/>
          <a:p>
            <a:pPr algn="l">
              <a:lnSpc>
                <a:spcPct val="110000"/>
              </a:lnSpc>
              <a:spcAft>
                <a:spcPts val="400"/>
              </a:spcAft>
            </a:pPr>
            <a:r>
              <a:rPr sz="2000" b="1" i="0">
                <a:solidFill>
                  <a:srgbClr val="0EA5C0"/>
                </a:solidFill>
                <a:latin typeface="Calibri"/>
              </a:rPr>
              <a:t>S2</a:t>
            </a:r>
          </a:p>
        </p:txBody>
      </p:sp>
      <p:sp>
        <p:nvSpPr>
          <p:cNvPr id="13" name="TextBox 12"/>
          <p:cNvSpPr txBox="1"/>
          <p:nvPr/>
        </p:nvSpPr>
        <p:spPr>
          <a:xfrm>
            <a:off x="3547872" y="2240280"/>
            <a:ext cx="2286000" cy="36576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Installation</a:t>
            </a:r>
          </a:p>
        </p:txBody>
      </p:sp>
      <p:sp>
        <p:nvSpPr>
          <p:cNvPr id="14" name="TextBox 13"/>
          <p:cNvSpPr txBox="1"/>
          <p:nvPr/>
        </p:nvSpPr>
        <p:spPr>
          <a:xfrm>
            <a:off x="3547872" y="2651760"/>
            <a:ext cx="2286000" cy="137160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install.sh, HTTPS, import des préfixes IPAM, cibles actives, seuils SLA alignés sur les vôtres</a:t>
            </a:r>
          </a:p>
        </p:txBody>
      </p:sp>
      <p:sp>
        <p:nvSpPr>
          <p:cNvPr id="15" name="Right Arrow 14"/>
          <p:cNvSpPr/>
          <p:nvPr/>
        </p:nvSpPr>
        <p:spPr>
          <a:xfrm>
            <a:off x="6035040" y="2697480"/>
            <a:ext cx="164592" cy="256032"/>
          </a:xfrm>
          <a:prstGeom prst="rightArrow">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181344" y="1691640"/>
            <a:ext cx="2651760" cy="2377440"/>
          </a:xfrm>
          <a:prstGeom prst="roundRect">
            <a:avLst>
              <a:gd name="adj" fmla="val 6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64224" y="1828800"/>
            <a:ext cx="2286000" cy="411480"/>
          </a:xfrm>
          <a:prstGeom prst="rect">
            <a:avLst/>
          </a:prstGeom>
          <a:noFill/>
        </p:spPr>
        <p:txBody>
          <a:bodyPr wrap="square" lIns="45720" rIns="45720" tIns="27432" bIns="27432" anchor="t">
            <a:spAutoFit/>
          </a:bodyPr>
          <a:lstStyle/>
          <a:p>
            <a:pPr algn="l">
              <a:lnSpc>
                <a:spcPct val="110000"/>
              </a:lnSpc>
              <a:spcAft>
                <a:spcPts val="400"/>
              </a:spcAft>
            </a:pPr>
            <a:r>
              <a:rPr sz="2000" b="1" i="0">
                <a:solidFill>
                  <a:srgbClr val="0EA5C0"/>
                </a:solidFill>
                <a:latin typeface="Calibri"/>
              </a:rPr>
              <a:t>S3–S5</a:t>
            </a:r>
          </a:p>
        </p:txBody>
      </p:sp>
      <p:sp>
        <p:nvSpPr>
          <p:cNvPr id="18" name="TextBox 17"/>
          <p:cNvSpPr txBox="1"/>
          <p:nvPr/>
        </p:nvSpPr>
        <p:spPr>
          <a:xfrm>
            <a:off x="6364224" y="2240280"/>
            <a:ext cx="2286000" cy="36576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Observation</a:t>
            </a:r>
          </a:p>
        </p:txBody>
      </p:sp>
      <p:sp>
        <p:nvSpPr>
          <p:cNvPr id="19" name="TextBox 18"/>
          <p:cNvSpPr txBox="1"/>
          <p:nvPr/>
        </p:nvSpPr>
        <p:spPr>
          <a:xfrm>
            <a:off x="6364224" y="2651760"/>
            <a:ext cx="2286000" cy="137160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exploitation par votre équipe ; comparaison des indicateurs avec le NPM cœur sur un flux commun ; un incident rejoué</a:t>
            </a:r>
          </a:p>
        </p:txBody>
      </p:sp>
      <p:sp>
        <p:nvSpPr>
          <p:cNvPr id="20" name="Right Arrow 19"/>
          <p:cNvSpPr/>
          <p:nvPr/>
        </p:nvSpPr>
        <p:spPr>
          <a:xfrm>
            <a:off x="8851392" y="2697480"/>
            <a:ext cx="164592" cy="256032"/>
          </a:xfrm>
          <a:prstGeom prst="rightArrow">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8997696" y="1691640"/>
            <a:ext cx="2651760" cy="2377440"/>
          </a:xfrm>
          <a:prstGeom prst="roundRect">
            <a:avLst>
              <a:gd name="adj" fmla="val 6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80576" y="1828800"/>
            <a:ext cx="2286000" cy="411480"/>
          </a:xfrm>
          <a:prstGeom prst="rect">
            <a:avLst/>
          </a:prstGeom>
          <a:noFill/>
        </p:spPr>
        <p:txBody>
          <a:bodyPr wrap="square" lIns="45720" rIns="45720" tIns="27432" bIns="27432" anchor="t">
            <a:spAutoFit/>
          </a:bodyPr>
          <a:lstStyle/>
          <a:p>
            <a:pPr algn="l">
              <a:lnSpc>
                <a:spcPct val="110000"/>
              </a:lnSpc>
              <a:spcAft>
                <a:spcPts val="400"/>
              </a:spcAft>
            </a:pPr>
            <a:r>
              <a:rPr sz="2000" b="1" i="0">
                <a:solidFill>
                  <a:srgbClr val="0EA5C0"/>
                </a:solidFill>
                <a:latin typeface="Calibri"/>
              </a:rPr>
              <a:t>S6</a:t>
            </a:r>
          </a:p>
        </p:txBody>
      </p:sp>
      <p:sp>
        <p:nvSpPr>
          <p:cNvPr id="23" name="TextBox 22"/>
          <p:cNvSpPr txBox="1"/>
          <p:nvPr/>
        </p:nvSpPr>
        <p:spPr>
          <a:xfrm>
            <a:off x="9180576" y="2240280"/>
            <a:ext cx="2286000" cy="36576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Bilan</a:t>
            </a:r>
          </a:p>
        </p:txBody>
      </p:sp>
      <p:sp>
        <p:nvSpPr>
          <p:cNvPr id="24" name="TextBox 23"/>
          <p:cNvSpPr txBox="1"/>
          <p:nvPr/>
        </p:nvSpPr>
        <p:spPr>
          <a:xfrm>
            <a:off x="9180576" y="2651760"/>
            <a:ext cx="2286000" cy="1371600"/>
          </a:xfrm>
          <a:prstGeom prst="rect">
            <a:avLst/>
          </a:prstGeom>
          <a:noFill/>
        </p:spPr>
        <p:txBody>
          <a:bodyPr wrap="square" lIns="45720" rIns="45720" tIns="27432" bIns="27432" anchor="t">
            <a:spAutoFit/>
          </a:bodyPr>
          <a:lstStyle/>
          <a:p>
            <a:pPr algn="l">
              <a:lnSpc>
                <a:spcPct val="110000"/>
              </a:lnSpc>
              <a:spcAft>
                <a:spcPts val="400"/>
              </a:spcAft>
            </a:pPr>
            <a:r>
              <a:rPr sz="1150" b="0" i="0">
                <a:solidFill>
                  <a:srgbClr val="111B2E"/>
                </a:solidFill>
                <a:latin typeface="Calibri"/>
              </a:rPr>
              <a:t>critères de succès, écarts constatés, décision : étendre, arrêter, ou intégrer au catalogue Axians</a:t>
            </a:r>
          </a:p>
        </p:txBody>
      </p:sp>
      <p:sp>
        <p:nvSpPr>
          <p:cNvPr id="25" name="TextBox 24"/>
          <p:cNvSpPr txBox="1"/>
          <p:nvPr/>
        </p:nvSpPr>
        <p:spPr>
          <a:xfrm>
            <a:off x="548640" y="4343400"/>
            <a:ext cx="5394960" cy="36576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Critères de succès proposés</a:t>
            </a:r>
          </a:p>
        </p:txBody>
      </p:sp>
      <p:sp>
        <p:nvSpPr>
          <p:cNvPr id="26" name="TextBox 25"/>
          <p:cNvSpPr txBox="1"/>
          <p:nvPr/>
        </p:nvSpPr>
        <p:spPr>
          <a:xfrm>
            <a:off x="548640" y="4709160"/>
            <a:ext cx="5394960" cy="1554480"/>
          </a:xfrm>
          <a:prstGeom prst="rect">
            <a:avLst/>
          </a:prstGeom>
          <a:noFill/>
        </p:spPr>
        <p:txBody>
          <a:bodyPr wrap="square" lIns="45720" rIns="45720" tIns="27432" bIns="27432">
            <a:spAutoFit/>
          </a:bodyPr>
          <a:lstStyle/>
          <a:p>
            <a:pPr>
              <a:lnSpc>
                <a:spcPct val="108000"/>
              </a:lnSpc>
              <a:spcAft>
                <a:spcPts val="500"/>
              </a:spcAft>
            </a:pPr>
            <a:r>
              <a:rPr sz="1200" b="1">
                <a:solidFill>
                  <a:srgbClr val="0EA5C0"/>
                </a:solidFill>
                <a:latin typeface="Calibri"/>
              </a:rPr>
              <a:t>▸ </a:t>
            </a:r>
            <a:r>
              <a:rPr sz="1200" b="0" i="0">
                <a:solidFill>
                  <a:srgbClr val="111B2E"/>
                </a:solidFill>
                <a:latin typeface="Calibri"/>
              </a:rPr>
              <a:t>un périmètre non instrumenté devient visible (flux, ART, SLA) en moins d'une journée</a:t>
            </a:r>
          </a:p>
          <a:p>
            <a:pPr>
              <a:lnSpc>
                <a:spcPct val="108000"/>
              </a:lnSpc>
              <a:spcAft>
                <a:spcPts val="500"/>
              </a:spcAft>
            </a:pPr>
            <a:r>
              <a:rPr sz="1200" b="1">
                <a:solidFill>
                  <a:srgbClr val="0EA5C0"/>
                </a:solidFill>
                <a:latin typeface="Calibri"/>
              </a:rPr>
              <a:t>▸ </a:t>
            </a:r>
            <a:r>
              <a:rPr sz="1200" b="0" i="0">
                <a:solidFill>
                  <a:srgbClr val="111B2E"/>
                </a:solidFill>
                <a:latin typeface="Calibri"/>
              </a:rPr>
              <a:t>écart des indicateurs communs avec le NPM cœur documenté et expliqué</a:t>
            </a:r>
          </a:p>
          <a:p>
            <a:pPr>
              <a:lnSpc>
                <a:spcPct val="108000"/>
              </a:lnSpc>
              <a:spcAft>
                <a:spcPts val="500"/>
              </a:spcAft>
            </a:pPr>
            <a:r>
              <a:rPr sz="1200" b="1">
                <a:solidFill>
                  <a:srgbClr val="0EA5C0"/>
                </a:solidFill>
                <a:latin typeface="Calibri"/>
              </a:rPr>
              <a:t>▸ </a:t>
            </a:r>
            <a:r>
              <a:rPr sz="1200" b="0" i="0">
                <a:solidFill>
                  <a:srgbClr val="111B2E"/>
                </a:solidFill>
                <a:latin typeface="Calibri"/>
              </a:rPr>
              <a:t>temps de qualification d'un incident de performance mesuré avant / après</a:t>
            </a:r>
          </a:p>
          <a:p>
            <a:pPr>
              <a:lnSpc>
                <a:spcPct val="108000"/>
              </a:lnSpc>
              <a:spcAft>
                <a:spcPts val="500"/>
              </a:spcAft>
            </a:pPr>
            <a:r>
              <a:rPr sz="1200" b="1">
                <a:solidFill>
                  <a:srgbClr val="0EA5C0"/>
                </a:solidFill>
                <a:latin typeface="Calibri"/>
              </a:rPr>
              <a:t>▸ </a:t>
            </a:r>
            <a:r>
              <a:rPr sz="1200" b="0" i="0">
                <a:solidFill>
                  <a:srgbClr val="111B2E"/>
                </a:solidFill>
                <a:latin typeface="Calibri"/>
              </a:rPr>
              <a:t>coût complet du pilote : la VM et le temps d'exploitation — pas de licence</a:t>
            </a:r>
          </a:p>
        </p:txBody>
      </p:sp>
      <p:sp>
        <p:nvSpPr>
          <p:cNvPr id="27" name="TextBox 26"/>
          <p:cNvSpPr txBox="1"/>
          <p:nvPr/>
        </p:nvSpPr>
        <p:spPr>
          <a:xfrm>
            <a:off x="6309360" y="4343400"/>
            <a:ext cx="5303520" cy="365760"/>
          </a:xfrm>
          <a:prstGeom prst="rect">
            <a:avLst/>
          </a:prstGeom>
          <a:noFill/>
        </p:spPr>
        <p:txBody>
          <a:bodyPr wrap="square" lIns="45720" rIns="45720" tIns="27432" bIns="27432" anchor="t">
            <a:spAutoFit/>
          </a:bodyPr>
          <a:lstStyle/>
          <a:p>
            <a:pPr algn="l">
              <a:lnSpc>
                <a:spcPct val="110000"/>
              </a:lnSpc>
              <a:spcAft>
                <a:spcPts val="400"/>
              </a:spcAft>
            </a:pPr>
            <a:r>
              <a:rPr sz="1500" b="1" i="0">
                <a:solidFill>
                  <a:srgbClr val="111B2E"/>
                </a:solidFill>
                <a:latin typeface="Calibri"/>
              </a:rPr>
              <a:t>Deux éditions, un seul dépôt</a:t>
            </a:r>
          </a:p>
        </p:txBody>
      </p:sp>
      <p:sp>
        <p:nvSpPr>
          <p:cNvPr id="28" name="TextBox 27"/>
          <p:cNvSpPr txBox="1"/>
          <p:nvPr/>
        </p:nvSpPr>
        <p:spPr>
          <a:xfrm>
            <a:off x="6309360" y="4709160"/>
            <a:ext cx="5303520" cy="1554480"/>
          </a:xfrm>
          <a:prstGeom prst="rect">
            <a:avLst/>
          </a:prstGeom>
          <a:noFill/>
        </p:spPr>
        <p:txBody>
          <a:bodyPr wrap="square" lIns="45720" rIns="45720" tIns="27432" bIns="27432">
            <a:spAutoFit/>
          </a:bodyPr>
          <a:lstStyle/>
          <a:p>
            <a:pPr>
              <a:lnSpc>
                <a:spcPct val="108000"/>
              </a:lnSpc>
              <a:spcAft>
                <a:spcPts val="500"/>
              </a:spcAft>
            </a:pPr>
            <a:r>
              <a:rPr sz="1200" b="1">
                <a:solidFill>
                  <a:srgbClr val="0EA5C0"/>
                </a:solidFill>
                <a:latin typeface="Calibri"/>
              </a:rPr>
              <a:t>▸ </a:t>
            </a:r>
            <a:r>
              <a:rPr sz="1200" b="1" i="0">
                <a:solidFill>
                  <a:srgbClr val="111B2E"/>
                </a:solidFill>
                <a:latin typeface="Calibri"/>
              </a:rPr>
              <a:t>Community </a:t>
            </a:r>
            <a:r>
              <a:rPr sz="1200" b="0" i="0">
                <a:solidFill>
                  <a:srgbClr val="111B2E"/>
                </a:solidFill>
                <a:latin typeface="Calibri"/>
              </a:rPr>
              <a:t>(AGPL v3) : sonde complète — moteurs, dashboards, install, health. Gratuite.</a:t>
            </a:r>
          </a:p>
          <a:p>
            <a:pPr>
              <a:lnSpc>
                <a:spcPct val="108000"/>
              </a:lnSpc>
              <a:spcAft>
                <a:spcPts val="500"/>
              </a:spcAft>
            </a:pPr>
            <a:r>
              <a:rPr sz="1200" b="1">
                <a:solidFill>
                  <a:srgbClr val="0EA5C0"/>
                </a:solidFill>
                <a:latin typeface="Calibri"/>
              </a:rPr>
              <a:t>▸ </a:t>
            </a:r>
            <a:r>
              <a:rPr sz="1200" b="1" i="0">
                <a:solidFill>
                  <a:srgbClr val="111B2E"/>
                </a:solidFill>
                <a:latin typeface="Calibri"/>
              </a:rPr>
              <a:t>Pro </a:t>
            </a:r>
            <a:r>
              <a:rPr sz="1200" b="0" i="0">
                <a:solidFill>
                  <a:srgbClr val="111B2E"/>
                </a:solidFill>
                <a:latin typeface="Calibri"/>
              </a:rPr>
              <a:t>(abonnement, clé de licence) : support Axians, fonctions avancées, multi-utilisateurs. Le pilote se fait en Community.</a:t>
            </a:r>
          </a:p>
          <a:p>
            <a:pPr>
              <a:lnSpc>
                <a:spcPct val="108000"/>
              </a:lnSpc>
              <a:spcAft>
                <a:spcPts val="500"/>
              </a:spcAft>
            </a:pPr>
            <a:r>
              <a:rPr sz="1200" b="1">
                <a:solidFill>
                  <a:srgbClr val="0EA5C0"/>
                </a:solidFill>
                <a:latin typeface="Calibri"/>
              </a:rPr>
              <a:t>▸ </a:t>
            </a:r>
            <a:r>
              <a:rPr sz="1200" b="1" i="0">
                <a:solidFill>
                  <a:srgbClr val="111B2E"/>
                </a:solidFill>
                <a:latin typeface="Calibri"/>
              </a:rPr>
              <a:t>Passage Core → IA </a:t>
            </a:r>
            <a:r>
              <a:rPr sz="1200" b="0" i="0">
                <a:solidFill>
                  <a:srgbClr val="111B2E"/>
                </a:solidFill>
                <a:latin typeface="Calibri"/>
              </a:rPr>
              <a:t>(assistant local) : deux lignes de configuration, aucune migration.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5B677D"/>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5B677D"/>
                </a:solidFill>
                <a:latin typeface="Calibri"/>
              </a:rPr>
              <a:t>16</a:t>
            </a:r>
          </a:p>
        </p:txBody>
      </p:sp>
      <p:sp>
        <p:nvSpPr>
          <p:cNvPr id="4" name="TextBox 3"/>
          <p:cNvSpPr txBox="1"/>
          <p:nvPr/>
        </p:nvSpPr>
        <p:spPr>
          <a:xfrm>
            <a:off x="548640" y="347472"/>
            <a:ext cx="11064240" cy="731520"/>
          </a:xfrm>
          <a:prstGeom prst="rect">
            <a:avLst/>
          </a:prstGeom>
          <a:noFill/>
        </p:spPr>
        <p:txBody>
          <a:bodyPr wrap="square" lIns="45720" rIns="45720" tIns="27432" bIns="27432" anchor="t">
            <a:spAutoFit/>
          </a:bodyPr>
          <a:lstStyle/>
          <a:p>
            <a:pPr algn="l">
              <a:lnSpc>
                <a:spcPct val="110000"/>
              </a:lnSpc>
              <a:spcAft>
                <a:spcPts val="400"/>
              </a:spcAft>
            </a:pPr>
            <a:r>
              <a:rPr sz="3200" b="1" i="0">
                <a:solidFill>
                  <a:srgbClr val="111B2E"/>
                </a:solidFill>
                <a:latin typeface="Calibri"/>
              </a:rPr>
              <a:t>Démonstration live — 10 minutes</a:t>
            </a:r>
          </a:p>
        </p:txBody>
      </p:sp>
      <p:sp>
        <p:nvSpPr>
          <p:cNvPr id="5" name="TextBox 4"/>
          <p:cNvSpPr txBox="1"/>
          <p:nvPr/>
        </p:nvSpPr>
        <p:spPr>
          <a:xfrm>
            <a:off x="548640" y="987552"/>
            <a:ext cx="11064240" cy="457200"/>
          </a:xfrm>
          <a:prstGeom prst="rect">
            <a:avLst/>
          </a:prstGeom>
          <a:noFill/>
        </p:spPr>
        <p:txBody>
          <a:bodyPr wrap="square" lIns="45720" rIns="45720" tIns="27432" bIns="27432" anchor="t">
            <a:spAutoFit/>
          </a:bodyPr>
          <a:lstStyle/>
          <a:p>
            <a:pPr algn="l">
              <a:lnSpc>
                <a:spcPct val="110000"/>
              </a:lnSpc>
              <a:spcAft>
                <a:spcPts val="400"/>
              </a:spcAft>
            </a:pPr>
            <a:r>
              <a:rPr sz="1500" b="0" i="0">
                <a:solidFill>
                  <a:srgbClr val="5B677D"/>
                </a:solidFill>
                <a:latin typeface="Calibri"/>
              </a:rPr>
              <a:t>Sur une sonde réelle : une question d'exploitant par étape, la page qui y répond</a:t>
            </a:r>
          </a:p>
        </p:txBody>
      </p:sp>
      <p:sp>
        <p:nvSpPr>
          <p:cNvPr id="6" name="Rounded Rectangle 5"/>
          <p:cNvSpPr/>
          <p:nvPr/>
        </p:nvSpPr>
        <p:spPr>
          <a:xfrm>
            <a:off x="548640" y="1645920"/>
            <a:ext cx="5468112" cy="932688"/>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731520" y="1920240"/>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8" name="TextBox 7"/>
          <p:cNvSpPr txBox="1"/>
          <p:nvPr/>
        </p:nvSpPr>
        <p:spPr>
          <a:xfrm>
            <a:off x="1261872" y="175564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Le réseau va bien, là, maintenant ?</a:t>
            </a:r>
          </a:p>
        </p:txBody>
      </p:sp>
      <p:sp>
        <p:nvSpPr>
          <p:cNvPr id="9" name="TextBox 8"/>
          <p:cNvSpPr txBox="1"/>
          <p:nvPr/>
        </p:nvSpPr>
        <p:spPr>
          <a:xfrm>
            <a:off x="1261872" y="2148840"/>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Home — triage, KPIs, plage globale</a:t>
            </a:r>
          </a:p>
        </p:txBody>
      </p:sp>
      <p:sp>
        <p:nvSpPr>
          <p:cNvPr id="10" name="Rounded Rectangle 9"/>
          <p:cNvSpPr/>
          <p:nvPr/>
        </p:nvSpPr>
        <p:spPr>
          <a:xfrm>
            <a:off x="6172200" y="1645920"/>
            <a:ext cx="5468112" cy="932688"/>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355080" y="1920240"/>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12" name="TextBox 11"/>
          <p:cNvSpPr txBox="1"/>
          <p:nvPr/>
        </p:nvSpPr>
        <p:spPr>
          <a:xfrm>
            <a:off x="6885432" y="175564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Qui consomme, et est-ce que ça rame ?</a:t>
            </a:r>
          </a:p>
        </p:txBody>
      </p:sp>
      <p:sp>
        <p:nvSpPr>
          <p:cNvPr id="13" name="TextBox 12"/>
          <p:cNvSpPr txBox="1"/>
          <p:nvPr/>
        </p:nvSpPr>
        <p:spPr>
          <a:xfrm>
            <a:off x="6885432" y="2148840"/>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/flows — top talkers, ART, santé TCP · ntopng</a:t>
            </a:r>
          </a:p>
        </p:txBody>
      </p:sp>
      <p:sp>
        <p:nvSpPr>
          <p:cNvPr id="14" name="Rounded Rectangle 13"/>
          <p:cNvSpPr/>
          <p:nvPr/>
        </p:nvSpPr>
        <p:spPr>
          <a:xfrm>
            <a:off x="548640" y="2743200"/>
            <a:ext cx="5468112" cy="932688"/>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Oval 14"/>
          <p:cNvSpPr/>
          <p:nvPr/>
        </p:nvSpPr>
        <p:spPr>
          <a:xfrm>
            <a:off x="731520" y="3017520"/>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6" name="TextBox 15"/>
          <p:cNvSpPr txBox="1"/>
          <p:nvPr/>
        </p:nvSpPr>
        <p:spPr>
          <a:xfrm>
            <a:off x="1261872" y="285292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C'est quoi cette adresse ?</a:t>
            </a:r>
          </a:p>
        </p:txBody>
      </p:sp>
      <p:sp>
        <p:nvSpPr>
          <p:cNvPr id="17" name="TextBox 16"/>
          <p:cNvSpPr txBox="1"/>
          <p:nvPr/>
        </p:nvSpPr>
        <p:spPr>
          <a:xfrm>
            <a:off x="1261872" y="3246120"/>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/ip/&lt;ip&gt; — contexte NetBox, mêmes widgets</a:t>
            </a:r>
          </a:p>
        </p:txBody>
      </p:sp>
      <p:sp>
        <p:nvSpPr>
          <p:cNvPr id="18" name="Rounded Rectangle 17"/>
          <p:cNvSpPr/>
          <p:nvPr/>
        </p:nvSpPr>
        <p:spPr>
          <a:xfrm>
            <a:off x="6172200" y="2743200"/>
            <a:ext cx="5468112" cy="932688"/>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6355080" y="3017520"/>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20" name="TextBox 19"/>
          <p:cNvSpPr txBox="1"/>
          <p:nvPr/>
        </p:nvSpPr>
        <p:spPr>
          <a:xfrm>
            <a:off x="6885432" y="285292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Et si le lien tombe à 3 h du matin ?</a:t>
            </a:r>
          </a:p>
        </p:txBody>
      </p:sp>
      <p:sp>
        <p:nvSpPr>
          <p:cNvPr id="21" name="TextBox 20"/>
          <p:cNvSpPr txBox="1"/>
          <p:nvPr/>
        </p:nvSpPr>
        <p:spPr>
          <a:xfrm>
            <a:off x="6885432" y="3246120"/>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/sla — sondes Blackbox, ajout d'une cible à chaud</a:t>
            </a:r>
          </a:p>
        </p:txBody>
      </p:sp>
      <p:sp>
        <p:nvSpPr>
          <p:cNvPr id="22" name="Rounded Rectangle 21"/>
          <p:cNvSpPr/>
          <p:nvPr/>
        </p:nvSpPr>
        <p:spPr>
          <a:xfrm>
            <a:off x="548640" y="3840480"/>
            <a:ext cx="5468112" cy="932688"/>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Oval 22"/>
          <p:cNvSpPr/>
          <p:nvPr/>
        </p:nvSpPr>
        <p:spPr>
          <a:xfrm>
            <a:off x="731520" y="4114800"/>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24" name="TextBox 23"/>
          <p:cNvSpPr txBox="1"/>
          <p:nvPr/>
        </p:nvSpPr>
        <p:spPr>
          <a:xfrm>
            <a:off x="1261872" y="395020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Paquet par paquet ?</a:t>
            </a:r>
          </a:p>
        </p:txBody>
      </p:sp>
      <p:sp>
        <p:nvSpPr>
          <p:cNvPr id="25" name="TextBox 24"/>
          <p:cNvSpPr txBox="1"/>
          <p:nvPr/>
        </p:nvSpPr>
        <p:spPr>
          <a:xfrm>
            <a:off x="1261872" y="4343400"/>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Arkime depuis le pivot IP, export PCAP</a:t>
            </a:r>
          </a:p>
        </p:txBody>
      </p:sp>
      <p:sp>
        <p:nvSpPr>
          <p:cNvPr id="26" name="Rounded Rectangle 25"/>
          <p:cNvSpPr/>
          <p:nvPr/>
        </p:nvSpPr>
        <p:spPr>
          <a:xfrm>
            <a:off x="6172200" y="3840480"/>
            <a:ext cx="5468112" cy="932688"/>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355080" y="4114800"/>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28" name="TextBox 27"/>
          <p:cNvSpPr txBox="1"/>
          <p:nvPr/>
        </p:nvSpPr>
        <p:spPr>
          <a:xfrm>
            <a:off x="6885432" y="395020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Montrez-moi le log brut</a:t>
            </a:r>
          </a:p>
        </p:txBody>
      </p:sp>
      <p:sp>
        <p:nvSpPr>
          <p:cNvPr id="29" name="TextBox 28"/>
          <p:cNvSpPr txBox="1"/>
          <p:nvPr/>
        </p:nvSpPr>
        <p:spPr>
          <a:xfrm>
            <a:off x="6885432" y="4343400"/>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/zeek → Kibana Discover, requête préremplie</a:t>
            </a:r>
          </a:p>
        </p:txBody>
      </p:sp>
      <p:sp>
        <p:nvSpPr>
          <p:cNvPr id="30" name="Rounded Rectangle 29"/>
          <p:cNvSpPr/>
          <p:nvPr/>
        </p:nvSpPr>
        <p:spPr>
          <a:xfrm>
            <a:off x="548640" y="4937759"/>
            <a:ext cx="5468112" cy="932688"/>
          </a:xfrm>
          <a:prstGeom prst="roundRect">
            <a:avLst>
              <a:gd name="adj" fmla="val 10000"/>
            </a:avLst>
          </a:prstGeom>
          <a:solidFill>
            <a:srgbClr val="F3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731520" y="5212079"/>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7</a:t>
            </a:r>
          </a:p>
        </p:txBody>
      </p:sp>
      <p:sp>
        <p:nvSpPr>
          <p:cNvPr id="32" name="TextBox 31"/>
          <p:cNvSpPr txBox="1"/>
          <p:nvPr/>
        </p:nvSpPr>
        <p:spPr>
          <a:xfrm>
            <a:off x="1261872" y="504748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Tout ça, c'est fiable ?</a:t>
            </a:r>
          </a:p>
        </p:txBody>
      </p:sp>
      <p:sp>
        <p:nvSpPr>
          <p:cNvPr id="33" name="TextBox 32"/>
          <p:cNvSpPr txBox="1"/>
          <p:nvPr/>
        </p:nvSpPr>
        <p:spPr>
          <a:xfrm>
            <a:off x="1261872" y="5440679"/>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/status — 10 services, sondes 7/7, latences</a:t>
            </a:r>
          </a:p>
        </p:txBody>
      </p:sp>
      <p:sp>
        <p:nvSpPr>
          <p:cNvPr id="34" name="Rounded Rectangle 33"/>
          <p:cNvSpPr/>
          <p:nvPr/>
        </p:nvSpPr>
        <p:spPr>
          <a:xfrm>
            <a:off x="6172200" y="4937759"/>
            <a:ext cx="5468112" cy="932688"/>
          </a:xfrm>
          <a:prstGeom prst="roundRect">
            <a:avLst>
              <a:gd name="adj" fmla="val 10000"/>
            </a:avLst>
          </a:prstGeom>
          <a:solidFill>
            <a:srgbClr val="E6F7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Oval 34"/>
          <p:cNvSpPr/>
          <p:nvPr/>
        </p:nvSpPr>
        <p:spPr>
          <a:xfrm>
            <a:off x="6355080" y="5212079"/>
            <a:ext cx="384048" cy="384048"/>
          </a:xfrm>
          <a:prstGeom prst="ellipse">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8</a:t>
            </a:r>
          </a:p>
        </p:txBody>
      </p:sp>
      <p:sp>
        <p:nvSpPr>
          <p:cNvPr id="36" name="TextBox 35"/>
          <p:cNvSpPr txBox="1"/>
          <p:nvPr/>
        </p:nvSpPr>
        <p:spPr>
          <a:xfrm>
            <a:off x="6885432" y="5047488"/>
            <a:ext cx="4617720" cy="411480"/>
          </a:xfrm>
          <a:prstGeom prst="rect">
            <a:avLst/>
          </a:prstGeom>
          <a:noFill/>
        </p:spPr>
        <p:txBody>
          <a:bodyPr wrap="square" lIns="45720" rIns="45720" tIns="27432" bIns="27432" anchor="t">
            <a:spAutoFit/>
          </a:bodyPr>
          <a:lstStyle/>
          <a:p>
            <a:pPr algn="l">
              <a:lnSpc>
                <a:spcPct val="110000"/>
              </a:lnSpc>
              <a:spcAft>
                <a:spcPts val="400"/>
              </a:spcAft>
            </a:pPr>
            <a:r>
              <a:rPr sz="1400" b="1" i="0">
                <a:solidFill>
                  <a:srgbClr val="111B2E"/>
                </a:solidFill>
                <a:latin typeface="Calibri"/>
              </a:rPr>
              <a:t>Vous me laissez quoi ?</a:t>
            </a:r>
          </a:p>
        </p:txBody>
      </p:sp>
      <p:sp>
        <p:nvSpPr>
          <p:cNvPr id="37" name="TextBox 36"/>
          <p:cNvSpPr txBox="1"/>
          <p:nvPr/>
        </p:nvSpPr>
        <p:spPr>
          <a:xfrm>
            <a:off x="6885432" y="5440679"/>
            <a:ext cx="4617720" cy="365760"/>
          </a:xfrm>
          <a:prstGeom prst="rect">
            <a:avLst/>
          </a:prstGeom>
          <a:noFill/>
        </p:spPr>
        <p:txBody>
          <a:bodyPr wrap="square" lIns="45720" rIns="45720" tIns="27432" bIns="27432" anchor="t">
            <a:spAutoFit/>
          </a:bodyPr>
          <a:lstStyle/>
          <a:p>
            <a:pPr algn="l">
              <a:lnSpc>
                <a:spcPct val="110000"/>
              </a:lnSpc>
              <a:spcAft>
                <a:spcPts val="400"/>
              </a:spcAft>
            </a:pPr>
            <a:r>
              <a:rPr sz="1200" b="0" i="0">
                <a:solidFill>
                  <a:srgbClr val="5B677D"/>
                </a:solidFill>
                <a:latin typeface="Calibri"/>
              </a:rPr>
              <a:t>/report — PDF ; hostgroups importés de NetBox</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548640" y="6419088"/>
            <a:ext cx="8229600" cy="274320"/>
          </a:xfrm>
          <a:prstGeom prst="rect">
            <a:avLst/>
          </a:prstGeom>
          <a:noFill/>
        </p:spPr>
        <p:txBody>
          <a:bodyPr wrap="square" lIns="45720" rIns="45720" tIns="27432" bIns="27432" anchor="t">
            <a:spAutoFit/>
          </a:bodyPr>
          <a:lstStyle/>
          <a:p>
            <a:pPr algn="l">
              <a:lnSpc>
                <a:spcPct val="110000"/>
              </a:lnSpc>
              <a:spcAft>
                <a:spcPts val="400"/>
              </a:spcAft>
            </a:pPr>
            <a:r>
              <a:rPr sz="900" b="0" i="0">
                <a:solidFill>
                  <a:srgbClr val="7C8AA3"/>
                </a:solidFill>
                <a:latin typeface="Calibri"/>
              </a:rPr>
              <a:t>NetWatch (nom de code) · Axians — présentation BP2i · équipe Réseau / NPM</a:t>
            </a:r>
          </a:p>
        </p:txBody>
      </p:sp>
      <p:sp>
        <p:nvSpPr>
          <p:cNvPr id="3" name="TextBox 2"/>
          <p:cNvSpPr txBox="1"/>
          <p:nvPr/>
        </p:nvSpPr>
        <p:spPr>
          <a:xfrm>
            <a:off x="10972800" y="6419088"/>
            <a:ext cx="685800" cy="274320"/>
          </a:xfrm>
          <a:prstGeom prst="rect">
            <a:avLst/>
          </a:prstGeom>
          <a:noFill/>
        </p:spPr>
        <p:txBody>
          <a:bodyPr wrap="square" lIns="45720" rIns="45720" tIns="27432" bIns="27432" anchor="t">
            <a:spAutoFit/>
          </a:bodyPr>
          <a:lstStyle/>
          <a:p>
            <a:pPr algn="r">
              <a:lnSpc>
                <a:spcPct val="110000"/>
              </a:lnSpc>
              <a:spcAft>
                <a:spcPts val="400"/>
              </a:spcAft>
            </a:pPr>
            <a:r>
              <a:rPr sz="900" b="0" i="0">
                <a:solidFill>
                  <a:srgbClr val="7C8AA3"/>
                </a:solidFill>
                <a:latin typeface="Calibri"/>
              </a:rPr>
              <a:t>17</a:t>
            </a:r>
          </a:p>
        </p:txBody>
      </p:sp>
      <p:sp>
        <p:nvSpPr>
          <p:cNvPr id="4" name="Rectangle 3"/>
          <p:cNvSpPr/>
          <p:nvPr/>
        </p:nvSpPr>
        <p:spPr>
          <a:xfrm>
            <a:off x="548640" y="2011680"/>
            <a:ext cx="146304" cy="1097280"/>
          </a:xfrm>
          <a:prstGeom prst="rect">
            <a:avLst/>
          </a:prstGeom>
          <a:solidFill>
            <a:srgbClr val="0EA5C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920240"/>
            <a:ext cx="10058400" cy="822960"/>
          </a:xfrm>
          <a:prstGeom prst="rect">
            <a:avLst/>
          </a:prstGeom>
          <a:noFill/>
        </p:spPr>
        <p:txBody>
          <a:bodyPr wrap="square" lIns="45720" rIns="45720" tIns="27432" bIns="27432" anchor="t">
            <a:spAutoFit/>
          </a:bodyPr>
          <a:lstStyle/>
          <a:p>
            <a:pPr algn="l">
              <a:lnSpc>
                <a:spcPct val="110000"/>
              </a:lnSpc>
              <a:spcAft>
                <a:spcPts val="400"/>
              </a:spcAft>
            </a:pPr>
            <a:r>
              <a:rPr sz="4400" b="1" i="0">
                <a:solidFill>
                  <a:srgbClr val="FFFFFF"/>
                </a:solidFill>
                <a:latin typeface="Calibri"/>
              </a:rPr>
              <a:t>Questions</a:t>
            </a:r>
          </a:p>
        </p:txBody>
      </p:sp>
      <p:sp>
        <p:nvSpPr>
          <p:cNvPr id="6" name="TextBox 5"/>
          <p:cNvSpPr txBox="1"/>
          <p:nvPr/>
        </p:nvSpPr>
        <p:spPr>
          <a:xfrm>
            <a:off x="868680" y="2788920"/>
            <a:ext cx="10515600" cy="548640"/>
          </a:xfrm>
          <a:prstGeom prst="rect">
            <a:avLst/>
          </a:prstGeom>
          <a:noFill/>
        </p:spPr>
        <p:txBody>
          <a:bodyPr wrap="square" lIns="45720" rIns="45720" tIns="27432" bIns="27432" anchor="t">
            <a:spAutoFit/>
          </a:bodyPr>
          <a:lstStyle/>
          <a:p>
            <a:pPr algn="l">
              <a:lnSpc>
                <a:spcPct val="110000"/>
              </a:lnSpc>
              <a:spcAft>
                <a:spcPts val="400"/>
              </a:spcAft>
            </a:pPr>
            <a:r>
              <a:rPr sz="2000" b="0" i="0">
                <a:solidFill>
                  <a:srgbClr val="B8C4D6"/>
                </a:solidFill>
                <a:latin typeface="Calibri"/>
              </a:rPr>
              <a:t>Un pilote de 6 semaines, un périmètre non instrumenté, zéro licence.</a:t>
            </a:r>
          </a:p>
        </p:txBody>
      </p:sp>
      <p:sp>
        <p:nvSpPr>
          <p:cNvPr id="7" name="TextBox 6"/>
          <p:cNvSpPr txBox="1"/>
          <p:nvPr/>
        </p:nvSpPr>
        <p:spPr>
          <a:xfrm>
            <a:off x="868680" y="3977639"/>
            <a:ext cx="10058400" cy="1280160"/>
          </a:xfrm>
          <a:prstGeom prst="rect">
            <a:avLst/>
          </a:prstGeom>
          <a:noFill/>
        </p:spPr>
        <p:txBody>
          <a:bodyPr wrap="square" lIns="45720" rIns="45720" tIns="27432" bIns="27432" anchor="t">
            <a:spAutoFit/>
          </a:bodyPr>
          <a:lstStyle/>
          <a:p>
            <a:pPr algn="l">
              <a:lnSpc>
                <a:spcPct val="110000"/>
              </a:lnSpc>
              <a:spcAft>
                <a:spcPts val="400"/>
              </a:spcAft>
            </a:pPr>
            <a:r>
              <a:rPr sz="1400" b="0" i="0">
                <a:solidFill>
                  <a:srgbClr val="B8C4D6"/>
                </a:solidFill>
                <a:latin typeface="Calibri"/>
              </a:rPr>
              <a:t>Nicolas Malok — analyste observabilité NPM, Axians (Vinci Energies)</a:t>
            </a:r>
          </a:p>
          <a:p>
            <a:pPr algn="l">
              <a:lnSpc>
                <a:spcPct val="110000"/>
              </a:lnSpc>
              <a:spcAft>
                <a:spcPts val="400"/>
              </a:spcAft>
            </a:pPr>
            <a:r>
              <a:rPr sz="1400" b="0" i="0">
                <a:solidFill>
                  <a:srgbClr val="B8C4D6"/>
                </a:solidFill>
                <a:latin typeface="Calibri"/>
              </a:rPr>
              <a:t>Dépôt : github.com/Ourslow/Netwatch · licence AGPL v3 · v2.1 (septembre 2026)</a:t>
            </a:r>
          </a:p>
          <a:p>
            <a:pPr algn="l">
              <a:lnSpc>
                <a:spcPct val="110000"/>
              </a:lnSpc>
              <a:spcAft>
                <a:spcPts val="400"/>
              </a:spcAft>
            </a:pPr>
            <a:r>
              <a:rPr sz="1400" b="0" i="0">
                <a:solidFill>
                  <a:srgbClr val="B8C4D6"/>
                </a:solidFill>
                <a:latin typeface="Calibri"/>
              </a:rPr>
              <a:t>Documentation : parcours de démo, plan de déploiement 2 VM, troubleshooting, checklist de validation</a:t>
            </a:r>
          </a:p>
        </p:txBody>
      </p:sp>
      <p:sp>
        <p:nvSpPr>
          <p:cNvPr id="8" name="TextBox 7"/>
          <p:cNvSpPr txBox="1"/>
          <p:nvPr/>
        </p:nvSpPr>
        <p:spPr>
          <a:xfrm>
            <a:off x="868680" y="5806440"/>
            <a:ext cx="10058400" cy="365760"/>
          </a:xfrm>
          <a:prstGeom prst="rect">
            <a:avLst/>
          </a:prstGeom>
          <a:noFill/>
        </p:spPr>
        <p:txBody>
          <a:bodyPr wrap="square" lIns="45720" rIns="45720" tIns="27432" bIns="27432" anchor="t">
            <a:spAutoFit/>
          </a:bodyPr>
          <a:lstStyle/>
          <a:p>
            <a:pPr algn="l">
              <a:lnSpc>
                <a:spcPct val="110000"/>
              </a:lnSpc>
              <a:spcAft>
                <a:spcPts val="400"/>
              </a:spcAft>
            </a:pPr>
            <a:r>
              <a:rPr sz="1100" b="0" i="0">
                <a:solidFill>
                  <a:srgbClr val="7C8AA3"/>
                </a:solidFill>
                <a:latin typeface="Calibri"/>
              </a:rPr>
              <a:t>« NetWatch » est un nom de code — le nom commercial est en cours de dépôt.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